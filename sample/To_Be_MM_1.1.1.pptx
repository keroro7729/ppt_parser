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8"/>
  </p:notesMasterIdLst>
  <p:sldIdLst>
    <p:sldId id="257" r:id="rId2"/>
    <p:sldId id="258" r:id="rId3"/>
    <p:sldId id="260" r:id="rId4"/>
    <p:sldId id="263" r:id="rId5"/>
    <p:sldId id="262" r:id="rId6"/>
    <p:sldId id="264" r:id="rId7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6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97" autoAdjust="0"/>
    <p:restoredTop sz="83251" autoAdjust="0"/>
  </p:normalViewPr>
  <p:slideViewPr>
    <p:cSldViewPr>
      <p:cViewPr varScale="1">
        <p:scale>
          <a:sx n="95" d="100"/>
          <a:sy n="95" d="100"/>
        </p:scale>
        <p:origin x="2124" y="84"/>
      </p:cViewPr>
      <p:guideLst>
        <p:guide orient="horz" pos="2160"/>
        <p:guide pos="266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6ACB0-6E7B-41D4-812C-5CBA8C54DD89}" type="datetimeFigureOut">
              <a:rPr lang="ko-KR" altLang="en-US" smtClean="0"/>
              <a:pPr/>
              <a:t>2023-04-03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8A59F-73D4-44E0-AB71-60405280746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9315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2A866107-E5CD-4BB1-A62F-1EE71F445F28}" type="datetime1">
              <a:rPr lang="ko-KR" altLang="en-US"/>
              <a:pPr/>
              <a:t>2023-04-03</a:t>
            </a:fld>
            <a:endParaRPr lang="en-GB" altLang="ko-KR" dirty="0"/>
          </a:p>
        </p:txBody>
      </p:sp>
      <p:sp>
        <p:nvSpPr>
          <p:cNvPr id="1024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A44A68-AC25-4059-A186-EC696D926836}" type="slidenum">
              <a:rPr lang="ko-KR" altLang="en-GB"/>
              <a:pPr/>
              <a:t>2</a:t>
            </a:fld>
            <a:endParaRPr lang="en-GB" altLang="ko-KR" dirty="0"/>
          </a:p>
        </p:txBody>
      </p:sp>
      <p:sp>
        <p:nvSpPr>
          <p:cNvPr id="102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 dirty="0"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생성전</a:t>
            </a:r>
            <a:r>
              <a:rPr lang="ko-KR" altLang="en-US" dirty="0"/>
              <a:t> 품의</a:t>
            </a:r>
            <a:r>
              <a:rPr lang="ko-KR" altLang="en-US" baseline="0" dirty="0"/>
              <a:t> 필요 </a:t>
            </a:r>
            <a:r>
              <a:rPr lang="en-US" altLang="ko-KR" baseline="0" dirty="0"/>
              <a:t>: </a:t>
            </a:r>
            <a:r>
              <a:rPr lang="ko-KR" altLang="en-US" baseline="0" dirty="0"/>
              <a:t>통장사본</a:t>
            </a:r>
            <a:r>
              <a:rPr lang="en-US" altLang="ko-KR" baseline="0" dirty="0"/>
              <a:t>, </a:t>
            </a:r>
            <a:r>
              <a:rPr lang="ko-KR" altLang="en-US" baseline="0" dirty="0"/>
              <a:t>사업자 등록증</a:t>
            </a:r>
            <a:r>
              <a:rPr lang="en-US" altLang="ko-KR" baseline="0" dirty="0"/>
              <a:t>, </a:t>
            </a:r>
            <a:r>
              <a:rPr lang="ko-KR" altLang="en-US" baseline="0" dirty="0"/>
              <a:t>결제조건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C8A59F-73D4-44E0-AB71-604052807468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C8A59F-73D4-44E0-AB71-604052807468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1694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3" y="1663050"/>
            <a:ext cx="8420100" cy="1846916"/>
          </a:xfrm>
          <a:prstGeom prst="rect">
            <a:avLst/>
          </a:prstGeom>
        </p:spPr>
        <p:txBody>
          <a:bodyPr anchor="b"/>
          <a:lstStyle>
            <a:lvl1pPr algn="ctr">
              <a:defRPr sz="600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1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91" indent="0" algn="ctr">
              <a:buNone/>
              <a:defRPr sz="2000"/>
            </a:lvl2pPr>
            <a:lvl3pPr marL="914583" indent="0" algn="ctr">
              <a:buNone/>
              <a:defRPr sz="1800"/>
            </a:lvl3pPr>
            <a:lvl4pPr marL="1371874" indent="0" algn="ctr">
              <a:buNone/>
              <a:defRPr sz="1600"/>
            </a:lvl4pPr>
            <a:lvl5pPr marL="1829166" indent="0" algn="ctr">
              <a:buNone/>
              <a:defRPr sz="1600"/>
            </a:lvl5pPr>
            <a:lvl6pPr marL="2286457" indent="0" algn="ctr">
              <a:buNone/>
              <a:defRPr sz="1600"/>
            </a:lvl6pPr>
            <a:lvl7pPr marL="2743749" indent="0" algn="ctr">
              <a:buNone/>
              <a:defRPr sz="1600"/>
            </a:lvl7pPr>
            <a:lvl8pPr marL="3201040" indent="0" algn="ctr">
              <a:buNone/>
              <a:defRPr sz="1600"/>
            </a:lvl8pPr>
            <a:lvl9pPr marL="3658332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40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CF218C0D-1510-4CDA-839D-67EB557A31A4}" type="datetimeFigureOut">
              <a:rPr lang="ko-KR" altLang="en-US" smtClean="0"/>
              <a:t>2023-04-03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5" y="6356351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D94CF9C4-50A8-46CF-8A7B-D76651C40F3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0021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15925" y="908050"/>
            <a:ext cx="4510088" cy="72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78413" y="908050"/>
            <a:ext cx="4511675" cy="72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297738" y="476250"/>
            <a:ext cx="2292350" cy="1152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15925" y="476250"/>
            <a:ext cx="6729413" cy="1152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15925" y="106363"/>
            <a:ext cx="6875463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altLang="ko-KR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5925" y="538163"/>
            <a:ext cx="9174163" cy="720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/>
              <a:t>Click to edit Master text styles, Click to edit Master text styles,Click to edit Master text styles.</a:t>
            </a:r>
          </a:p>
          <a:p>
            <a:pPr lvl="1"/>
            <a:r>
              <a:rPr lang="en-GB" altLang="ko-KR"/>
              <a:t>Second level, Click to edit Master text styles</a:t>
            </a:r>
          </a:p>
        </p:txBody>
      </p:sp>
      <p:sp>
        <p:nvSpPr>
          <p:cNvPr id="1162" name="Line 138"/>
          <p:cNvSpPr>
            <a:spLocks noChangeShapeType="1"/>
          </p:cNvSpPr>
          <p:nvPr userDrawn="1"/>
        </p:nvSpPr>
        <p:spPr bwMode="auto">
          <a:xfrm>
            <a:off x="415925" y="484188"/>
            <a:ext cx="9174163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ffectLst/>
        </p:spPr>
        <p:txBody>
          <a:bodyPr lIns="63500" tIns="0" rIns="0" bIns="0"/>
          <a:lstStyle/>
          <a:p>
            <a:pPr algn="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200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163" name="Rectangle 139"/>
          <p:cNvSpPr>
            <a:spLocks noChangeArrowheads="1"/>
          </p:cNvSpPr>
          <p:nvPr userDrawn="1"/>
        </p:nvSpPr>
        <p:spPr bwMode="auto">
          <a:xfrm>
            <a:off x="0" y="427038"/>
            <a:ext cx="128588" cy="409575"/>
          </a:xfrm>
          <a:prstGeom prst="rect">
            <a:avLst/>
          </a:prstGeom>
          <a:solidFill>
            <a:srgbClr val="000066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63500" tIns="0" rIns="0" bIns="0" anchor="ctr"/>
          <a:lstStyle/>
          <a:p>
            <a:pPr algn="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200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165" name="Rectangle 141"/>
          <p:cNvSpPr>
            <a:spLocks noChangeArrowheads="1"/>
          </p:cNvSpPr>
          <p:nvPr userDrawn="1"/>
        </p:nvSpPr>
        <p:spPr bwMode="auto">
          <a:xfrm>
            <a:off x="4645025" y="6467475"/>
            <a:ext cx="615950" cy="3429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957263" fontAlgn="base" latinLnBrk="0">
              <a:spcBef>
                <a:spcPct val="0"/>
              </a:spcBef>
              <a:spcAft>
                <a:spcPct val="0"/>
              </a:spcAft>
              <a:buSzPct val="90000"/>
              <a:defRPr/>
            </a:pPr>
            <a:fld id="{597C53A1-D595-40ED-A311-3A29428780F8}" type="slidenum">
              <a:rPr lang="ko-KR" altLang="en-US" sz="10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pPr algn="ctr" defTabSz="957263" fontAlgn="base" latinLnBrk="0">
                <a:spcBef>
                  <a:spcPct val="0"/>
                </a:spcBef>
                <a:spcAft>
                  <a:spcPct val="0"/>
                </a:spcAft>
                <a:buSzPct val="90000"/>
                <a:defRPr/>
              </a:pPr>
              <a:t>‹#›</a:t>
            </a:fld>
            <a:endParaRPr lang="en-US" altLang="ko-KR" sz="10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166" name="Line 142"/>
          <p:cNvSpPr>
            <a:spLocks noChangeShapeType="1"/>
          </p:cNvSpPr>
          <p:nvPr userDrawn="1"/>
        </p:nvSpPr>
        <p:spPr bwMode="auto">
          <a:xfrm>
            <a:off x="165100" y="6403975"/>
            <a:ext cx="9598025" cy="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ffectLst/>
        </p:spPr>
        <p:txBody>
          <a:bodyPr lIns="63500" tIns="0" rIns="0" bIns="0"/>
          <a:lstStyle/>
          <a:p>
            <a:pPr algn="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200" dirty="0">
              <a:solidFill>
                <a:srgbClr val="000000"/>
              </a:solidFill>
              <a:cs typeface="Arial" charset="0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9022702" y="6562595"/>
            <a:ext cx="610249" cy="244399"/>
            <a:chOff x="4196916" y="3972164"/>
            <a:chExt cx="2020685" cy="809267"/>
          </a:xfrm>
        </p:grpSpPr>
        <p:sp>
          <p:nvSpPr>
            <p:cNvPr id="11" name="Freeform 11"/>
            <p:cNvSpPr>
              <a:spLocks/>
            </p:cNvSpPr>
            <p:nvPr/>
          </p:nvSpPr>
          <p:spPr bwMode="auto">
            <a:xfrm>
              <a:off x="4196916" y="4422545"/>
              <a:ext cx="243277" cy="352503"/>
            </a:xfrm>
            <a:custGeom>
              <a:avLst/>
              <a:gdLst>
                <a:gd name="T0" fmla="*/ 96 w 155"/>
                <a:gd name="T1" fmla="*/ 88 h 224"/>
                <a:gd name="T2" fmla="*/ 63 w 155"/>
                <a:gd name="T3" fmla="*/ 59 h 224"/>
                <a:gd name="T4" fmla="*/ 89 w 155"/>
                <a:gd name="T5" fmla="*/ 41 h 224"/>
                <a:gd name="T6" fmla="*/ 105 w 155"/>
                <a:gd name="T7" fmla="*/ 42 h 224"/>
                <a:gd name="T8" fmla="*/ 113 w 155"/>
                <a:gd name="T9" fmla="*/ 43 h 224"/>
                <a:gd name="T10" fmla="*/ 141 w 155"/>
                <a:gd name="T11" fmla="*/ 18 h 224"/>
                <a:gd name="T12" fmla="*/ 144 w 155"/>
                <a:gd name="T13" fmla="*/ 11 h 224"/>
                <a:gd name="T14" fmla="*/ 86 w 155"/>
                <a:gd name="T15" fmla="*/ 0 h 224"/>
                <a:gd name="T16" fmla="*/ 11 w 155"/>
                <a:gd name="T17" fmla="*/ 64 h 224"/>
                <a:gd name="T18" fmla="*/ 24 w 155"/>
                <a:gd name="T19" fmla="*/ 103 h 224"/>
                <a:gd name="T20" fmla="*/ 63 w 155"/>
                <a:gd name="T21" fmla="*/ 130 h 224"/>
                <a:gd name="T22" fmla="*/ 102 w 155"/>
                <a:gd name="T23" fmla="*/ 162 h 224"/>
                <a:gd name="T24" fmla="*/ 70 w 155"/>
                <a:gd name="T25" fmla="*/ 183 h 224"/>
                <a:gd name="T26" fmla="*/ 21 w 155"/>
                <a:gd name="T27" fmla="*/ 167 h 224"/>
                <a:gd name="T28" fmla="*/ 0 w 155"/>
                <a:gd name="T29" fmla="*/ 205 h 224"/>
                <a:gd name="T30" fmla="*/ 74 w 155"/>
                <a:gd name="T31" fmla="*/ 224 h 224"/>
                <a:gd name="T32" fmla="*/ 155 w 155"/>
                <a:gd name="T33" fmla="*/ 156 h 224"/>
                <a:gd name="T34" fmla="*/ 96 w 155"/>
                <a:gd name="T35" fmla="*/ 88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5" h="224">
                  <a:moveTo>
                    <a:pt x="96" y="88"/>
                  </a:moveTo>
                  <a:cubicBezTo>
                    <a:pt x="78" y="80"/>
                    <a:pt x="63" y="73"/>
                    <a:pt x="63" y="59"/>
                  </a:cubicBezTo>
                  <a:cubicBezTo>
                    <a:pt x="63" y="48"/>
                    <a:pt x="72" y="41"/>
                    <a:pt x="89" y="41"/>
                  </a:cubicBezTo>
                  <a:cubicBezTo>
                    <a:pt x="95" y="41"/>
                    <a:pt x="100" y="41"/>
                    <a:pt x="105" y="42"/>
                  </a:cubicBezTo>
                  <a:cubicBezTo>
                    <a:pt x="108" y="43"/>
                    <a:pt x="111" y="43"/>
                    <a:pt x="113" y="43"/>
                  </a:cubicBezTo>
                  <a:cubicBezTo>
                    <a:pt x="128" y="43"/>
                    <a:pt x="136" y="34"/>
                    <a:pt x="141" y="18"/>
                  </a:cubicBezTo>
                  <a:cubicBezTo>
                    <a:pt x="144" y="11"/>
                    <a:pt x="144" y="11"/>
                    <a:pt x="144" y="11"/>
                  </a:cubicBezTo>
                  <a:cubicBezTo>
                    <a:pt x="141" y="10"/>
                    <a:pt x="117" y="0"/>
                    <a:pt x="86" y="0"/>
                  </a:cubicBezTo>
                  <a:cubicBezTo>
                    <a:pt x="37" y="0"/>
                    <a:pt x="11" y="31"/>
                    <a:pt x="11" y="64"/>
                  </a:cubicBezTo>
                  <a:cubicBezTo>
                    <a:pt x="11" y="81"/>
                    <a:pt x="16" y="93"/>
                    <a:pt x="24" y="103"/>
                  </a:cubicBezTo>
                  <a:cubicBezTo>
                    <a:pt x="34" y="115"/>
                    <a:pt x="49" y="123"/>
                    <a:pt x="63" y="130"/>
                  </a:cubicBezTo>
                  <a:cubicBezTo>
                    <a:pt x="84" y="140"/>
                    <a:pt x="102" y="147"/>
                    <a:pt x="102" y="162"/>
                  </a:cubicBezTo>
                  <a:cubicBezTo>
                    <a:pt x="102" y="175"/>
                    <a:pt x="89" y="183"/>
                    <a:pt x="70" y="183"/>
                  </a:cubicBezTo>
                  <a:cubicBezTo>
                    <a:pt x="45" y="183"/>
                    <a:pt x="24" y="168"/>
                    <a:pt x="21" y="167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4" y="207"/>
                    <a:pt x="30" y="224"/>
                    <a:pt x="74" y="224"/>
                  </a:cubicBezTo>
                  <a:cubicBezTo>
                    <a:pt x="120" y="224"/>
                    <a:pt x="155" y="197"/>
                    <a:pt x="155" y="156"/>
                  </a:cubicBezTo>
                  <a:cubicBezTo>
                    <a:pt x="155" y="116"/>
                    <a:pt x="123" y="101"/>
                    <a:pt x="96" y="88"/>
                  </a:cubicBezTo>
                  <a:close/>
                </a:path>
              </a:pathLst>
            </a:custGeom>
            <a:solidFill>
              <a:srgbClr val="E318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2" name="Freeform 12"/>
            <p:cNvSpPr>
              <a:spLocks/>
            </p:cNvSpPr>
            <p:nvPr/>
          </p:nvSpPr>
          <p:spPr bwMode="auto">
            <a:xfrm>
              <a:off x="4486295" y="4428928"/>
              <a:ext cx="284414" cy="342573"/>
            </a:xfrm>
            <a:custGeom>
              <a:avLst/>
              <a:gdLst>
                <a:gd name="T0" fmla="*/ 93 w 181"/>
                <a:gd name="T1" fmla="*/ 103 h 218"/>
                <a:gd name="T2" fmla="*/ 177 w 181"/>
                <a:gd name="T3" fmla="*/ 0 h 218"/>
                <a:gd name="T4" fmla="*/ 117 w 181"/>
                <a:gd name="T5" fmla="*/ 0 h 218"/>
                <a:gd name="T6" fmla="*/ 50 w 181"/>
                <a:gd name="T7" fmla="*/ 89 h 218"/>
                <a:gd name="T8" fmla="*/ 49 w 181"/>
                <a:gd name="T9" fmla="*/ 89 h 218"/>
                <a:gd name="T10" fmla="*/ 49 w 181"/>
                <a:gd name="T11" fmla="*/ 0 h 218"/>
                <a:gd name="T12" fmla="*/ 0 w 181"/>
                <a:gd name="T13" fmla="*/ 0 h 218"/>
                <a:gd name="T14" fmla="*/ 0 w 181"/>
                <a:gd name="T15" fmla="*/ 218 h 218"/>
                <a:gd name="T16" fmla="*/ 3 w 181"/>
                <a:gd name="T17" fmla="*/ 218 h 218"/>
                <a:gd name="T18" fmla="*/ 50 w 181"/>
                <a:gd name="T19" fmla="*/ 173 h 218"/>
                <a:gd name="T20" fmla="*/ 50 w 181"/>
                <a:gd name="T21" fmla="*/ 123 h 218"/>
                <a:gd name="T22" fmla="*/ 51 w 181"/>
                <a:gd name="T23" fmla="*/ 123 h 218"/>
                <a:gd name="T24" fmla="*/ 119 w 181"/>
                <a:gd name="T25" fmla="*/ 215 h 218"/>
                <a:gd name="T26" fmla="*/ 181 w 181"/>
                <a:gd name="T27" fmla="*/ 215 h 218"/>
                <a:gd name="T28" fmla="*/ 93 w 181"/>
                <a:gd name="T29" fmla="*/ 10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1" h="218">
                  <a:moveTo>
                    <a:pt x="93" y="103"/>
                  </a:moveTo>
                  <a:cubicBezTo>
                    <a:pt x="177" y="0"/>
                    <a:pt x="177" y="0"/>
                    <a:pt x="177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50" y="89"/>
                    <a:pt x="50" y="89"/>
                    <a:pt x="50" y="89"/>
                  </a:cubicBezTo>
                  <a:cubicBezTo>
                    <a:pt x="49" y="89"/>
                    <a:pt x="49" y="89"/>
                    <a:pt x="49" y="89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3" y="218"/>
                    <a:pt x="3" y="218"/>
                    <a:pt x="3" y="218"/>
                  </a:cubicBezTo>
                  <a:cubicBezTo>
                    <a:pt x="24" y="218"/>
                    <a:pt x="50" y="208"/>
                    <a:pt x="50" y="173"/>
                  </a:cubicBezTo>
                  <a:cubicBezTo>
                    <a:pt x="50" y="123"/>
                    <a:pt x="50" y="123"/>
                    <a:pt x="50" y="123"/>
                  </a:cubicBezTo>
                  <a:cubicBezTo>
                    <a:pt x="51" y="123"/>
                    <a:pt x="51" y="123"/>
                    <a:pt x="51" y="123"/>
                  </a:cubicBezTo>
                  <a:cubicBezTo>
                    <a:pt x="119" y="215"/>
                    <a:pt x="119" y="215"/>
                    <a:pt x="119" y="215"/>
                  </a:cubicBezTo>
                  <a:cubicBezTo>
                    <a:pt x="181" y="215"/>
                    <a:pt x="181" y="215"/>
                    <a:pt x="181" y="215"/>
                  </a:cubicBezTo>
                  <a:lnTo>
                    <a:pt x="93" y="103"/>
                  </a:lnTo>
                  <a:close/>
                </a:path>
              </a:pathLst>
            </a:custGeom>
            <a:solidFill>
              <a:srgbClr val="E318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3" name="Freeform 13"/>
            <p:cNvSpPr>
              <a:spLocks/>
            </p:cNvSpPr>
            <p:nvPr/>
          </p:nvSpPr>
          <p:spPr bwMode="auto">
            <a:xfrm>
              <a:off x="4689143" y="4062240"/>
              <a:ext cx="192919" cy="270229"/>
            </a:xfrm>
            <a:custGeom>
              <a:avLst/>
              <a:gdLst>
                <a:gd name="T0" fmla="*/ 51 w 123"/>
                <a:gd name="T1" fmla="*/ 0 h 172"/>
                <a:gd name="T2" fmla="*/ 8 w 123"/>
                <a:gd name="T3" fmla="*/ 47 h 172"/>
                <a:gd name="T4" fmla="*/ 29 w 123"/>
                <a:gd name="T5" fmla="*/ 120 h 172"/>
                <a:gd name="T6" fmla="*/ 0 w 123"/>
                <a:gd name="T7" fmla="*/ 171 h 172"/>
                <a:gd name="T8" fmla="*/ 20 w 123"/>
                <a:gd name="T9" fmla="*/ 171 h 172"/>
                <a:gd name="T10" fmla="*/ 45 w 123"/>
                <a:gd name="T11" fmla="*/ 172 h 172"/>
                <a:gd name="T12" fmla="*/ 123 w 123"/>
                <a:gd name="T13" fmla="*/ 77 h 172"/>
                <a:gd name="T14" fmla="*/ 51 w 123"/>
                <a:gd name="T15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3" h="172">
                  <a:moveTo>
                    <a:pt x="51" y="0"/>
                  </a:moveTo>
                  <a:cubicBezTo>
                    <a:pt x="33" y="3"/>
                    <a:pt x="8" y="19"/>
                    <a:pt x="8" y="47"/>
                  </a:cubicBezTo>
                  <a:cubicBezTo>
                    <a:pt x="8" y="72"/>
                    <a:pt x="29" y="87"/>
                    <a:pt x="29" y="120"/>
                  </a:cubicBezTo>
                  <a:cubicBezTo>
                    <a:pt x="29" y="145"/>
                    <a:pt x="15" y="162"/>
                    <a:pt x="0" y="171"/>
                  </a:cubicBezTo>
                  <a:cubicBezTo>
                    <a:pt x="6" y="171"/>
                    <a:pt x="13" y="171"/>
                    <a:pt x="20" y="171"/>
                  </a:cubicBezTo>
                  <a:cubicBezTo>
                    <a:pt x="35" y="171"/>
                    <a:pt x="44" y="172"/>
                    <a:pt x="45" y="172"/>
                  </a:cubicBezTo>
                  <a:cubicBezTo>
                    <a:pt x="123" y="77"/>
                    <a:pt x="123" y="77"/>
                    <a:pt x="123" y="77"/>
                  </a:cubicBezTo>
                  <a:cubicBezTo>
                    <a:pt x="101" y="44"/>
                    <a:pt x="76" y="19"/>
                    <a:pt x="51" y="0"/>
                  </a:cubicBezTo>
                  <a:close/>
                </a:path>
              </a:pathLst>
            </a:custGeom>
            <a:solidFill>
              <a:srgbClr val="E318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4" name="Freeform 14"/>
            <p:cNvSpPr>
              <a:spLocks/>
            </p:cNvSpPr>
            <p:nvPr/>
          </p:nvSpPr>
          <p:spPr bwMode="auto">
            <a:xfrm>
              <a:off x="4816101" y="4183524"/>
              <a:ext cx="317749" cy="284414"/>
            </a:xfrm>
            <a:custGeom>
              <a:avLst/>
              <a:gdLst>
                <a:gd name="T0" fmla="*/ 35 w 202"/>
                <a:gd name="T1" fmla="*/ 181 h 181"/>
                <a:gd name="T2" fmla="*/ 47 w 202"/>
                <a:gd name="T3" fmla="*/ 116 h 181"/>
                <a:gd name="T4" fmla="*/ 84 w 202"/>
                <a:gd name="T5" fmla="*/ 76 h 181"/>
                <a:gd name="T6" fmla="*/ 109 w 202"/>
                <a:gd name="T7" fmla="*/ 77 h 181"/>
                <a:gd name="T8" fmla="*/ 202 w 202"/>
                <a:gd name="T9" fmla="*/ 51 h 181"/>
                <a:gd name="T10" fmla="*/ 42 w 202"/>
                <a:gd name="T11" fmla="*/ 0 h 181"/>
                <a:gd name="T12" fmla="*/ 0 w 202"/>
                <a:gd name="T13" fmla="*/ 116 h 181"/>
                <a:gd name="T14" fmla="*/ 14 w 202"/>
                <a:gd name="T15" fmla="*/ 136 h 181"/>
                <a:gd name="T16" fmla="*/ 35 w 202"/>
                <a:gd name="T17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2" h="181">
                  <a:moveTo>
                    <a:pt x="35" y="181"/>
                  </a:moveTo>
                  <a:cubicBezTo>
                    <a:pt x="45" y="165"/>
                    <a:pt x="46" y="141"/>
                    <a:pt x="47" y="116"/>
                  </a:cubicBezTo>
                  <a:cubicBezTo>
                    <a:pt x="48" y="93"/>
                    <a:pt x="53" y="76"/>
                    <a:pt x="84" y="76"/>
                  </a:cubicBezTo>
                  <a:cubicBezTo>
                    <a:pt x="90" y="76"/>
                    <a:pt x="97" y="77"/>
                    <a:pt x="109" y="77"/>
                  </a:cubicBezTo>
                  <a:cubicBezTo>
                    <a:pt x="154" y="77"/>
                    <a:pt x="183" y="61"/>
                    <a:pt x="202" y="51"/>
                  </a:cubicBezTo>
                  <a:cubicBezTo>
                    <a:pt x="164" y="27"/>
                    <a:pt x="110" y="2"/>
                    <a:pt x="42" y="0"/>
                  </a:cubicBezTo>
                  <a:cubicBezTo>
                    <a:pt x="37" y="12"/>
                    <a:pt x="3" y="108"/>
                    <a:pt x="0" y="116"/>
                  </a:cubicBezTo>
                  <a:cubicBezTo>
                    <a:pt x="0" y="116"/>
                    <a:pt x="7" y="123"/>
                    <a:pt x="14" y="136"/>
                  </a:cubicBezTo>
                  <a:cubicBezTo>
                    <a:pt x="25" y="154"/>
                    <a:pt x="31" y="169"/>
                    <a:pt x="35" y="181"/>
                  </a:cubicBezTo>
                  <a:close/>
                </a:path>
              </a:pathLst>
            </a:custGeom>
            <a:solidFill>
              <a:srgbClr val="E318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4565022" y="3972164"/>
              <a:ext cx="186536" cy="371653"/>
            </a:xfrm>
            <a:custGeom>
              <a:avLst/>
              <a:gdLst>
                <a:gd name="T0" fmla="*/ 31 w 119"/>
                <a:gd name="T1" fmla="*/ 236 h 236"/>
                <a:gd name="T2" fmla="*/ 24 w 119"/>
                <a:gd name="T3" fmla="*/ 229 h 236"/>
                <a:gd name="T4" fmla="*/ 2 w 119"/>
                <a:gd name="T5" fmla="*/ 20 h 236"/>
                <a:gd name="T6" fmla="*/ 0 w 119"/>
                <a:gd name="T7" fmla="*/ 6 h 236"/>
                <a:gd name="T8" fmla="*/ 6 w 119"/>
                <a:gd name="T9" fmla="*/ 0 h 236"/>
                <a:gd name="T10" fmla="*/ 119 w 119"/>
                <a:gd name="T11" fmla="*/ 49 h 236"/>
                <a:gd name="T12" fmla="*/ 76 w 119"/>
                <a:gd name="T13" fmla="*/ 102 h 236"/>
                <a:gd name="T14" fmla="*/ 97 w 119"/>
                <a:gd name="T15" fmla="*/ 177 h 236"/>
                <a:gd name="T16" fmla="*/ 31 w 119"/>
                <a:gd name="T1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236">
                  <a:moveTo>
                    <a:pt x="31" y="236"/>
                  </a:moveTo>
                  <a:cubicBezTo>
                    <a:pt x="27" y="236"/>
                    <a:pt x="25" y="234"/>
                    <a:pt x="24" y="229"/>
                  </a:cubicBezTo>
                  <a:cubicBezTo>
                    <a:pt x="24" y="225"/>
                    <a:pt x="4" y="47"/>
                    <a:pt x="2" y="20"/>
                  </a:cubicBezTo>
                  <a:cubicBezTo>
                    <a:pt x="1" y="16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5" y="0"/>
                    <a:pt x="65" y="12"/>
                    <a:pt x="119" y="49"/>
                  </a:cubicBezTo>
                  <a:cubicBezTo>
                    <a:pt x="103" y="53"/>
                    <a:pt x="76" y="69"/>
                    <a:pt x="76" y="102"/>
                  </a:cubicBezTo>
                  <a:cubicBezTo>
                    <a:pt x="76" y="132"/>
                    <a:pt x="97" y="148"/>
                    <a:pt x="97" y="177"/>
                  </a:cubicBezTo>
                  <a:cubicBezTo>
                    <a:pt x="97" y="225"/>
                    <a:pt x="42" y="236"/>
                    <a:pt x="31" y="236"/>
                  </a:cubicBez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6" name="Freeform 16"/>
            <p:cNvSpPr>
              <a:spLocks/>
            </p:cNvSpPr>
            <p:nvPr/>
          </p:nvSpPr>
          <p:spPr bwMode="auto">
            <a:xfrm>
              <a:off x="4879225" y="4274309"/>
              <a:ext cx="342573" cy="226964"/>
            </a:xfrm>
            <a:custGeom>
              <a:avLst/>
              <a:gdLst>
                <a:gd name="T0" fmla="*/ 0 w 218"/>
                <a:gd name="T1" fmla="*/ 135 h 144"/>
                <a:gd name="T2" fmla="*/ 2 w 218"/>
                <a:gd name="T3" fmla="*/ 141 h 144"/>
                <a:gd name="T4" fmla="*/ 7 w 218"/>
                <a:gd name="T5" fmla="*/ 144 h 144"/>
                <a:gd name="T6" fmla="*/ 11 w 218"/>
                <a:gd name="T7" fmla="*/ 143 h 144"/>
                <a:gd name="T8" fmla="*/ 202 w 218"/>
                <a:gd name="T9" fmla="*/ 54 h 144"/>
                <a:gd name="T10" fmla="*/ 215 w 218"/>
                <a:gd name="T11" fmla="*/ 48 h 144"/>
                <a:gd name="T12" fmla="*/ 218 w 218"/>
                <a:gd name="T13" fmla="*/ 43 h 144"/>
                <a:gd name="T14" fmla="*/ 217 w 218"/>
                <a:gd name="T15" fmla="*/ 39 h 144"/>
                <a:gd name="T16" fmla="*/ 172 w 218"/>
                <a:gd name="T17" fmla="*/ 0 h 144"/>
                <a:gd name="T18" fmla="*/ 70 w 218"/>
                <a:gd name="T19" fmla="*/ 29 h 144"/>
                <a:gd name="T20" fmla="*/ 48 w 218"/>
                <a:gd name="T21" fmla="*/ 28 h 144"/>
                <a:gd name="T22" fmla="*/ 17 w 218"/>
                <a:gd name="T23" fmla="*/ 59 h 144"/>
                <a:gd name="T24" fmla="*/ 17 w 218"/>
                <a:gd name="T25" fmla="*/ 74 h 144"/>
                <a:gd name="T26" fmla="*/ 0 w 218"/>
                <a:gd name="T27" fmla="*/ 13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8" h="144">
                  <a:moveTo>
                    <a:pt x="0" y="135"/>
                  </a:moveTo>
                  <a:cubicBezTo>
                    <a:pt x="0" y="138"/>
                    <a:pt x="1" y="139"/>
                    <a:pt x="2" y="141"/>
                  </a:cubicBezTo>
                  <a:cubicBezTo>
                    <a:pt x="3" y="143"/>
                    <a:pt x="5" y="144"/>
                    <a:pt x="7" y="144"/>
                  </a:cubicBezTo>
                  <a:cubicBezTo>
                    <a:pt x="8" y="144"/>
                    <a:pt x="10" y="143"/>
                    <a:pt x="11" y="143"/>
                  </a:cubicBezTo>
                  <a:cubicBezTo>
                    <a:pt x="15" y="141"/>
                    <a:pt x="178" y="65"/>
                    <a:pt x="202" y="54"/>
                  </a:cubicBezTo>
                  <a:cubicBezTo>
                    <a:pt x="206" y="52"/>
                    <a:pt x="212" y="49"/>
                    <a:pt x="215" y="48"/>
                  </a:cubicBezTo>
                  <a:cubicBezTo>
                    <a:pt x="217" y="46"/>
                    <a:pt x="218" y="45"/>
                    <a:pt x="218" y="43"/>
                  </a:cubicBezTo>
                  <a:cubicBezTo>
                    <a:pt x="218" y="42"/>
                    <a:pt x="218" y="40"/>
                    <a:pt x="217" y="39"/>
                  </a:cubicBezTo>
                  <a:cubicBezTo>
                    <a:pt x="214" y="34"/>
                    <a:pt x="198" y="18"/>
                    <a:pt x="172" y="0"/>
                  </a:cubicBezTo>
                  <a:cubicBezTo>
                    <a:pt x="151" y="11"/>
                    <a:pt x="119" y="29"/>
                    <a:pt x="70" y="29"/>
                  </a:cubicBezTo>
                  <a:cubicBezTo>
                    <a:pt x="58" y="29"/>
                    <a:pt x="56" y="28"/>
                    <a:pt x="48" y="28"/>
                  </a:cubicBezTo>
                  <a:cubicBezTo>
                    <a:pt x="24" y="28"/>
                    <a:pt x="18" y="38"/>
                    <a:pt x="17" y="59"/>
                  </a:cubicBezTo>
                  <a:cubicBezTo>
                    <a:pt x="17" y="63"/>
                    <a:pt x="17" y="68"/>
                    <a:pt x="17" y="74"/>
                  </a:cubicBezTo>
                  <a:cubicBezTo>
                    <a:pt x="16" y="93"/>
                    <a:pt x="14" y="118"/>
                    <a:pt x="0" y="135"/>
                  </a:cubicBez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7" name="Freeform 17"/>
            <p:cNvSpPr>
              <a:spLocks/>
            </p:cNvSpPr>
            <p:nvPr/>
          </p:nvSpPr>
          <p:spPr bwMode="auto">
            <a:xfrm>
              <a:off x="5047320" y="4496308"/>
              <a:ext cx="250369" cy="140434"/>
            </a:xfrm>
            <a:custGeom>
              <a:avLst/>
              <a:gdLst>
                <a:gd name="T0" fmla="*/ 104 w 159"/>
                <a:gd name="T1" fmla="*/ 19 h 89"/>
                <a:gd name="T2" fmla="*/ 153 w 159"/>
                <a:gd name="T3" fmla="*/ 19 h 89"/>
                <a:gd name="T4" fmla="*/ 153 w 159"/>
                <a:gd name="T5" fmla="*/ 0 h 89"/>
                <a:gd name="T6" fmla="*/ 7 w 159"/>
                <a:gd name="T7" fmla="*/ 0 h 89"/>
                <a:gd name="T8" fmla="*/ 7 w 159"/>
                <a:gd name="T9" fmla="*/ 19 h 89"/>
                <a:gd name="T10" fmla="*/ 55 w 159"/>
                <a:gd name="T11" fmla="*/ 19 h 89"/>
                <a:gd name="T12" fmla="*/ 0 w 159"/>
                <a:gd name="T13" fmla="*/ 89 h 89"/>
                <a:gd name="T14" fmla="*/ 32 w 159"/>
                <a:gd name="T15" fmla="*/ 89 h 89"/>
                <a:gd name="T16" fmla="*/ 79 w 159"/>
                <a:gd name="T17" fmla="*/ 27 h 89"/>
                <a:gd name="T18" fmla="*/ 121 w 159"/>
                <a:gd name="T19" fmla="*/ 82 h 89"/>
                <a:gd name="T20" fmla="*/ 135 w 159"/>
                <a:gd name="T21" fmla="*/ 89 h 89"/>
                <a:gd name="T22" fmla="*/ 159 w 159"/>
                <a:gd name="T23" fmla="*/ 89 h 89"/>
                <a:gd name="T24" fmla="*/ 104 w 159"/>
                <a:gd name="T25" fmla="*/ 1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9" h="89">
                  <a:moveTo>
                    <a:pt x="104" y="19"/>
                  </a:moveTo>
                  <a:cubicBezTo>
                    <a:pt x="153" y="19"/>
                    <a:pt x="153" y="19"/>
                    <a:pt x="153" y="19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55" y="19"/>
                    <a:pt x="55" y="19"/>
                    <a:pt x="55" y="1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32" y="89"/>
                    <a:pt x="32" y="89"/>
                    <a:pt x="32" y="89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5" y="87"/>
                    <a:pt x="129" y="89"/>
                    <a:pt x="135" y="89"/>
                  </a:cubicBezTo>
                  <a:cubicBezTo>
                    <a:pt x="159" y="89"/>
                    <a:pt x="159" y="89"/>
                    <a:pt x="159" y="89"/>
                  </a:cubicBezTo>
                  <a:lnTo>
                    <a:pt x="104" y="19"/>
                  </a:ln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auto">
            <a:xfrm>
              <a:off x="5035263" y="4662984"/>
              <a:ext cx="275193" cy="118447"/>
            </a:xfrm>
            <a:custGeom>
              <a:avLst/>
              <a:gdLst>
                <a:gd name="T0" fmla="*/ 175 w 175"/>
                <a:gd name="T1" fmla="*/ 0 h 75"/>
                <a:gd name="T2" fmla="*/ 0 w 175"/>
                <a:gd name="T3" fmla="*/ 0 h 75"/>
                <a:gd name="T4" fmla="*/ 0 w 175"/>
                <a:gd name="T5" fmla="*/ 18 h 75"/>
                <a:gd name="T6" fmla="*/ 74 w 175"/>
                <a:gd name="T7" fmla="*/ 18 h 75"/>
                <a:gd name="T8" fmla="*/ 74 w 175"/>
                <a:gd name="T9" fmla="*/ 75 h 75"/>
                <a:gd name="T10" fmla="*/ 81 w 175"/>
                <a:gd name="T11" fmla="*/ 75 h 75"/>
                <a:gd name="T12" fmla="*/ 101 w 175"/>
                <a:gd name="T13" fmla="*/ 56 h 75"/>
                <a:gd name="T14" fmla="*/ 101 w 175"/>
                <a:gd name="T15" fmla="*/ 18 h 75"/>
                <a:gd name="T16" fmla="*/ 175 w 175"/>
                <a:gd name="T17" fmla="*/ 18 h 75"/>
                <a:gd name="T18" fmla="*/ 175 w 175"/>
                <a:gd name="T1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5" h="75">
                  <a:moveTo>
                    <a:pt x="17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75"/>
                    <a:pt x="74" y="75"/>
                    <a:pt x="74" y="75"/>
                  </a:cubicBezTo>
                  <a:cubicBezTo>
                    <a:pt x="81" y="75"/>
                    <a:pt x="81" y="75"/>
                    <a:pt x="81" y="75"/>
                  </a:cubicBezTo>
                  <a:cubicBezTo>
                    <a:pt x="92" y="75"/>
                    <a:pt x="101" y="66"/>
                    <a:pt x="101" y="56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75" y="18"/>
                    <a:pt x="175" y="18"/>
                    <a:pt x="175" y="18"/>
                  </a:cubicBezTo>
                  <a:lnTo>
                    <a:pt x="175" y="0"/>
                  </a:ln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9" name="Freeform 19"/>
            <p:cNvSpPr>
              <a:spLocks/>
            </p:cNvSpPr>
            <p:nvPr/>
          </p:nvSpPr>
          <p:spPr bwMode="auto">
            <a:xfrm>
              <a:off x="5936025" y="4496308"/>
              <a:ext cx="195047" cy="193628"/>
            </a:xfrm>
            <a:custGeom>
              <a:avLst/>
              <a:gdLst>
                <a:gd name="T0" fmla="*/ 55 w 124"/>
                <a:gd name="T1" fmla="*/ 0 h 123"/>
                <a:gd name="T2" fmla="*/ 44 w 124"/>
                <a:gd name="T3" fmla="*/ 8 h 123"/>
                <a:gd name="T4" fmla="*/ 0 w 124"/>
                <a:gd name="T5" fmla="*/ 123 h 123"/>
                <a:gd name="T6" fmla="*/ 28 w 124"/>
                <a:gd name="T7" fmla="*/ 123 h 123"/>
                <a:gd name="T8" fmla="*/ 63 w 124"/>
                <a:gd name="T9" fmla="*/ 29 h 123"/>
                <a:gd name="T10" fmla="*/ 94 w 124"/>
                <a:gd name="T11" fmla="*/ 115 h 123"/>
                <a:gd name="T12" fmla="*/ 105 w 124"/>
                <a:gd name="T13" fmla="*/ 123 h 123"/>
                <a:gd name="T14" fmla="*/ 124 w 124"/>
                <a:gd name="T15" fmla="*/ 123 h 123"/>
                <a:gd name="T16" fmla="*/ 76 w 124"/>
                <a:gd name="T17" fmla="*/ 0 h 123"/>
                <a:gd name="T18" fmla="*/ 55 w 124"/>
                <a:gd name="T19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4" h="123">
                  <a:moveTo>
                    <a:pt x="55" y="0"/>
                  </a:moveTo>
                  <a:cubicBezTo>
                    <a:pt x="51" y="0"/>
                    <a:pt x="47" y="3"/>
                    <a:pt x="44" y="8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28" y="123"/>
                    <a:pt x="28" y="123"/>
                    <a:pt x="28" y="123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94" y="115"/>
                    <a:pt x="94" y="115"/>
                    <a:pt x="94" y="115"/>
                  </a:cubicBezTo>
                  <a:cubicBezTo>
                    <a:pt x="96" y="120"/>
                    <a:pt x="100" y="122"/>
                    <a:pt x="105" y="123"/>
                  </a:cubicBezTo>
                  <a:cubicBezTo>
                    <a:pt x="124" y="123"/>
                    <a:pt x="124" y="123"/>
                    <a:pt x="124" y="123"/>
                  </a:cubicBezTo>
                  <a:cubicBezTo>
                    <a:pt x="76" y="0"/>
                    <a:pt x="76" y="0"/>
                    <a:pt x="76" y="0"/>
                  </a:cubicBezTo>
                  <a:lnTo>
                    <a:pt x="55" y="0"/>
                  </a:ln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20" name="Freeform 20"/>
            <p:cNvSpPr>
              <a:spLocks/>
            </p:cNvSpPr>
            <p:nvPr/>
          </p:nvSpPr>
          <p:spPr bwMode="auto">
            <a:xfrm>
              <a:off x="6143838" y="4496308"/>
              <a:ext cx="73763" cy="270938"/>
            </a:xfrm>
            <a:custGeom>
              <a:avLst/>
              <a:gdLst>
                <a:gd name="T0" fmla="*/ 47 w 47"/>
                <a:gd name="T1" fmla="*/ 46 h 172"/>
                <a:gd name="T2" fmla="*/ 26 w 47"/>
                <a:gd name="T3" fmla="*/ 46 h 172"/>
                <a:gd name="T4" fmla="*/ 26 w 47"/>
                <a:gd name="T5" fmla="*/ 0 h 172"/>
                <a:gd name="T6" fmla="*/ 0 w 47"/>
                <a:gd name="T7" fmla="*/ 0 h 172"/>
                <a:gd name="T8" fmla="*/ 0 w 47"/>
                <a:gd name="T9" fmla="*/ 172 h 172"/>
                <a:gd name="T10" fmla="*/ 7 w 47"/>
                <a:gd name="T11" fmla="*/ 172 h 172"/>
                <a:gd name="T12" fmla="*/ 26 w 47"/>
                <a:gd name="T13" fmla="*/ 153 h 172"/>
                <a:gd name="T14" fmla="*/ 26 w 47"/>
                <a:gd name="T15" fmla="*/ 64 h 172"/>
                <a:gd name="T16" fmla="*/ 47 w 47"/>
                <a:gd name="T17" fmla="*/ 64 h 172"/>
                <a:gd name="T18" fmla="*/ 47 w 47"/>
                <a:gd name="T19" fmla="*/ 46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172">
                  <a:moveTo>
                    <a:pt x="47" y="46"/>
                  </a:moveTo>
                  <a:cubicBezTo>
                    <a:pt x="26" y="46"/>
                    <a:pt x="26" y="46"/>
                    <a:pt x="26" y="46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7" y="172"/>
                    <a:pt x="7" y="172"/>
                    <a:pt x="7" y="172"/>
                  </a:cubicBezTo>
                  <a:cubicBezTo>
                    <a:pt x="18" y="172"/>
                    <a:pt x="26" y="164"/>
                    <a:pt x="26" y="153"/>
                  </a:cubicBezTo>
                  <a:cubicBezTo>
                    <a:pt x="26" y="64"/>
                    <a:pt x="26" y="64"/>
                    <a:pt x="26" y="64"/>
                  </a:cubicBezTo>
                  <a:cubicBezTo>
                    <a:pt x="47" y="64"/>
                    <a:pt x="47" y="64"/>
                    <a:pt x="47" y="64"/>
                  </a:cubicBezTo>
                  <a:lnTo>
                    <a:pt x="47" y="46"/>
                  </a:ln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21" name="Freeform 21"/>
            <p:cNvSpPr>
              <a:spLocks/>
            </p:cNvSpPr>
            <p:nvPr/>
          </p:nvSpPr>
          <p:spPr bwMode="auto">
            <a:xfrm>
              <a:off x="5335280" y="4496308"/>
              <a:ext cx="193629" cy="141852"/>
            </a:xfrm>
            <a:custGeom>
              <a:avLst/>
              <a:gdLst>
                <a:gd name="T0" fmla="*/ 93 w 123"/>
                <a:gd name="T1" fmla="*/ 82 h 90"/>
                <a:gd name="T2" fmla="*/ 104 w 123"/>
                <a:gd name="T3" fmla="*/ 90 h 90"/>
                <a:gd name="T4" fmla="*/ 123 w 123"/>
                <a:gd name="T5" fmla="*/ 90 h 90"/>
                <a:gd name="T6" fmla="*/ 75 w 123"/>
                <a:gd name="T7" fmla="*/ 0 h 90"/>
                <a:gd name="T8" fmla="*/ 54 w 123"/>
                <a:gd name="T9" fmla="*/ 0 h 90"/>
                <a:gd name="T10" fmla="*/ 43 w 123"/>
                <a:gd name="T11" fmla="*/ 8 h 90"/>
                <a:gd name="T12" fmla="*/ 0 w 123"/>
                <a:gd name="T13" fmla="*/ 90 h 90"/>
                <a:gd name="T14" fmla="*/ 27 w 123"/>
                <a:gd name="T15" fmla="*/ 90 h 90"/>
                <a:gd name="T16" fmla="*/ 62 w 123"/>
                <a:gd name="T17" fmla="*/ 24 h 90"/>
                <a:gd name="T18" fmla="*/ 93 w 123"/>
                <a:gd name="T19" fmla="*/ 8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3" h="90">
                  <a:moveTo>
                    <a:pt x="93" y="82"/>
                  </a:moveTo>
                  <a:cubicBezTo>
                    <a:pt x="95" y="87"/>
                    <a:pt x="100" y="90"/>
                    <a:pt x="104" y="90"/>
                  </a:cubicBezTo>
                  <a:cubicBezTo>
                    <a:pt x="123" y="90"/>
                    <a:pt x="123" y="90"/>
                    <a:pt x="123" y="9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0" y="0"/>
                    <a:pt x="46" y="3"/>
                    <a:pt x="43" y="8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62" y="24"/>
                    <a:pt x="62" y="24"/>
                    <a:pt x="62" y="24"/>
                  </a:cubicBezTo>
                  <a:lnTo>
                    <a:pt x="93" y="82"/>
                  </a:ln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22" name="Freeform 22"/>
            <p:cNvSpPr>
              <a:spLocks/>
            </p:cNvSpPr>
            <p:nvPr/>
          </p:nvSpPr>
          <p:spPr bwMode="auto">
            <a:xfrm>
              <a:off x="5379254" y="4665112"/>
              <a:ext cx="210651" cy="111354"/>
            </a:xfrm>
            <a:custGeom>
              <a:avLst/>
              <a:gdLst>
                <a:gd name="T0" fmla="*/ 0 w 134"/>
                <a:gd name="T1" fmla="*/ 0 h 71"/>
                <a:gd name="T2" fmla="*/ 0 w 134"/>
                <a:gd name="T3" fmla="*/ 18 h 71"/>
                <a:gd name="T4" fmla="*/ 107 w 134"/>
                <a:gd name="T5" fmla="*/ 18 h 71"/>
                <a:gd name="T6" fmla="*/ 107 w 134"/>
                <a:gd name="T7" fmla="*/ 71 h 71"/>
                <a:gd name="T8" fmla="*/ 114 w 134"/>
                <a:gd name="T9" fmla="*/ 71 h 71"/>
                <a:gd name="T10" fmla="*/ 134 w 134"/>
                <a:gd name="T11" fmla="*/ 52 h 71"/>
                <a:gd name="T12" fmla="*/ 134 w 134"/>
                <a:gd name="T13" fmla="*/ 0 h 71"/>
                <a:gd name="T14" fmla="*/ 0 w 134"/>
                <a:gd name="T15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4" h="71">
                  <a:moveTo>
                    <a:pt x="0" y="0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107" y="18"/>
                    <a:pt x="107" y="18"/>
                    <a:pt x="107" y="18"/>
                  </a:cubicBezTo>
                  <a:cubicBezTo>
                    <a:pt x="107" y="71"/>
                    <a:pt x="107" y="71"/>
                    <a:pt x="107" y="71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25" y="71"/>
                    <a:pt x="134" y="62"/>
                    <a:pt x="134" y="52"/>
                  </a:cubicBezTo>
                  <a:cubicBezTo>
                    <a:pt x="134" y="0"/>
                    <a:pt x="134" y="0"/>
                    <a:pt x="13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5547349" y="4496308"/>
              <a:ext cx="42556" cy="154619"/>
            </a:xfrm>
            <a:prstGeom prst="rect">
              <a:avLst/>
            </a:pr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24" name="Freeform 24"/>
            <p:cNvSpPr>
              <a:spLocks/>
            </p:cNvSpPr>
            <p:nvPr/>
          </p:nvSpPr>
          <p:spPr bwMode="auto">
            <a:xfrm>
              <a:off x="5857296" y="4496308"/>
              <a:ext cx="41137" cy="270938"/>
            </a:xfrm>
            <a:custGeom>
              <a:avLst/>
              <a:gdLst>
                <a:gd name="T0" fmla="*/ 26 w 26"/>
                <a:gd name="T1" fmla="*/ 0 h 172"/>
                <a:gd name="T2" fmla="*/ 26 w 26"/>
                <a:gd name="T3" fmla="*/ 153 h 172"/>
                <a:gd name="T4" fmla="*/ 7 w 26"/>
                <a:gd name="T5" fmla="*/ 172 h 172"/>
                <a:gd name="T6" fmla="*/ 0 w 26"/>
                <a:gd name="T7" fmla="*/ 172 h 172"/>
                <a:gd name="T8" fmla="*/ 0 w 26"/>
                <a:gd name="T9" fmla="*/ 0 h 172"/>
                <a:gd name="T10" fmla="*/ 26 w 26"/>
                <a:gd name="T11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72">
                  <a:moveTo>
                    <a:pt x="26" y="0"/>
                  </a:moveTo>
                  <a:cubicBezTo>
                    <a:pt x="26" y="153"/>
                    <a:pt x="26" y="153"/>
                    <a:pt x="26" y="153"/>
                  </a:cubicBezTo>
                  <a:cubicBezTo>
                    <a:pt x="26" y="164"/>
                    <a:pt x="17" y="172"/>
                    <a:pt x="7" y="172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25" name="Freeform 25"/>
            <p:cNvSpPr>
              <a:spLocks noEditPoints="1"/>
            </p:cNvSpPr>
            <p:nvPr/>
          </p:nvSpPr>
          <p:spPr bwMode="auto">
            <a:xfrm>
              <a:off x="5646646" y="4489925"/>
              <a:ext cx="196466" cy="202849"/>
            </a:xfrm>
            <a:custGeom>
              <a:avLst/>
              <a:gdLst>
                <a:gd name="T0" fmla="*/ 76 w 125"/>
                <a:gd name="T1" fmla="*/ 111 h 129"/>
                <a:gd name="T2" fmla="*/ 76 w 125"/>
                <a:gd name="T3" fmla="*/ 101 h 129"/>
                <a:gd name="T4" fmla="*/ 112 w 125"/>
                <a:gd name="T5" fmla="*/ 62 h 129"/>
                <a:gd name="T6" fmla="*/ 94 w 125"/>
                <a:gd name="T7" fmla="*/ 31 h 129"/>
                <a:gd name="T8" fmla="*/ 117 w 125"/>
                <a:gd name="T9" fmla="*/ 31 h 129"/>
                <a:gd name="T10" fmla="*/ 117 w 125"/>
                <a:gd name="T11" fmla="*/ 13 h 129"/>
                <a:gd name="T12" fmla="*/ 76 w 125"/>
                <a:gd name="T13" fmla="*/ 13 h 129"/>
                <a:gd name="T14" fmla="*/ 76 w 125"/>
                <a:gd name="T15" fmla="*/ 0 h 129"/>
                <a:gd name="T16" fmla="*/ 48 w 125"/>
                <a:gd name="T17" fmla="*/ 0 h 129"/>
                <a:gd name="T18" fmla="*/ 48 w 125"/>
                <a:gd name="T19" fmla="*/ 13 h 129"/>
                <a:gd name="T20" fmla="*/ 6 w 125"/>
                <a:gd name="T21" fmla="*/ 13 h 129"/>
                <a:gd name="T22" fmla="*/ 6 w 125"/>
                <a:gd name="T23" fmla="*/ 31 h 129"/>
                <a:gd name="T24" fmla="*/ 30 w 125"/>
                <a:gd name="T25" fmla="*/ 31 h 129"/>
                <a:gd name="T26" fmla="*/ 12 w 125"/>
                <a:gd name="T27" fmla="*/ 62 h 129"/>
                <a:gd name="T28" fmla="*/ 48 w 125"/>
                <a:gd name="T29" fmla="*/ 101 h 129"/>
                <a:gd name="T30" fmla="*/ 48 w 125"/>
                <a:gd name="T31" fmla="*/ 111 h 129"/>
                <a:gd name="T32" fmla="*/ 0 w 125"/>
                <a:gd name="T33" fmla="*/ 111 h 129"/>
                <a:gd name="T34" fmla="*/ 0 w 125"/>
                <a:gd name="T35" fmla="*/ 129 h 129"/>
                <a:gd name="T36" fmla="*/ 125 w 125"/>
                <a:gd name="T37" fmla="*/ 129 h 129"/>
                <a:gd name="T38" fmla="*/ 125 w 125"/>
                <a:gd name="T39" fmla="*/ 111 h 129"/>
                <a:gd name="T40" fmla="*/ 76 w 125"/>
                <a:gd name="T41" fmla="*/ 111 h 129"/>
                <a:gd name="T42" fmla="*/ 38 w 125"/>
                <a:gd name="T43" fmla="*/ 62 h 129"/>
                <a:gd name="T44" fmla="*/ 62 w 125"/>
                <a:gd name="T45" fmla="*/ 39 h 129"/>
                <a:gd name="T46" fmla="*/ 85 w 125"/>
                <a:gd name="T47" fmla="*/ 62 h 129"/>
                <a:gd name="T48" fmla="*/ 62 w 125"/>
                <a:gd name="T49" fmla="*/ 85 h 129"/>
                <a:gd name="T50" fmla="*/ 38 w 125"/>
                <a:gd name="T51" fmla="*/ 62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5" h="129">
                  <a:moveTo>
                    <a:pt x="76" y="111"/>
                  </a:moveTo>
                  <a:cubicBezTo>
                    <a:pt x="76" y="101"/>
                    <a:pt x="76" y="101"/>
                    <a:pt x="76" y="101"/>
                  </a:cubicBezTo>
                  <a:cubicBezTo>
                    <a:pt x="97" y="96"/>
                    <a:pt x="112" y="81"/>
                    <a:pt x="112" y="62"/>
                  </a:cubicBezTo>
                  <a:cubicBezTo>
                    <a:pt x="112" y="50"/>
                    <a:pt x="105" y="39"/>
                    <a:pt x="94" y="31"/>
                  </a:cubicBezTo>
                  <a:cubicBezTo>
                    <a:pt x="117" y="31"/>
                    <a:pt x="117" y="31"/>
                    <a:pt x="117" y="31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30" y="31"/>
                    <a:pt x="30" y="31"/>
                    <a:pt x="30" y="31"/>
                  </a:cubicBezTo>
                  <a:cubicBezTo>
                    <a:pt x="18" y="39"/>
                    <a:pt x="12" y="50"/>
                    <a:pt x="12" y="62"/>
                  </a:cubicBezTo>
                  <a:cubicBezTo>
                    <a:pt x="12" y="81"/>
                    <a:pt x="26" y="96"/>
                    <a:pt x="48" y="101"/>
                  </a:cubicBezTo>
                  <a:cubicBezTo>
                    <a:pt x="48" y="111"/>
                    <a:pt x="48" y="111"/>
                    <a:pt x="48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29"/>
                    <a:pt x="0" y="129"/>
                    <a:pt x="0" y="129"/>
                  </a:cubicBezTo>
                  <a:cubicBezTo>
                    <a:pt x="125" y="129"/>
                    <a:pt x="125" y="129"/>
                    <a:pt x="125" y="129"/>
                  </a:cubicBezTo>
                  <a:cubicBezTo>
                    <a:pt x="125" y="111"/>
                    <a:pt x="125" y="111"/>
                    <a:pt x="125" y="111"/>
                  </a:cubicBezTo>
                  <a:lnTo>
                    <a:pt x="76" y="111"/>
                  </a:lnTo>
                  <a:close/>
                  <a:moveTo>
                    <a:pt x="38" y="62"/>
                  </a:moveTo>
                  <a:cubicBezTo>
                    <a:pt x="38" y="49"/>
                    <a:pt x="48" y="39"/>
                    <a:pt x="62" y="39"/>
                  </a:cubicBezTo>
                  <a:cubicBezTo>
                    <a:pt x="76" y="39"/>
                    <a:pt x="85" y="49"/>
                    <a:pt x="85" y="62"/>
                  </a:cubicBezTo>
                  <a:cubicBezTo>
                    <a:pt x="85" y="75"/>
                    <a:pt x="76" y="85"/>
                    <a:pt x="62" y="85"/>
                  </a:cubicBezTo>
                  <a:cubicBezTo>
                    <a:pt x="48" y="85"/>
                    <a:pt x="38" y="75"/>
                    <a:pt x="38" y="62"/>
                  </a:cubicBezTo>
                  <a:close/>
                </a:path>
              </a:pathLst>
            </a:custGeom>
            <a:solidFill>
              <a:srgbClr val="F580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D5633679-09D6-45D5-9460-AD708BAD3CF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52055" y="6431336"/>
            <a:ext cx="700510" cy="3876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+mj-lt"/>
          <a:ea typeface="+mj-ea"/>
          <a:cs typeface="+mj-cs"/>
        </a:defRPr>
      </a:lvl1pPr>
      <a:lvl2pPr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Optima" pitchFamily="2" charset="2"/>
          <a:ea typeface="가는각진제목체" pitchFamily="18" charset="-127"/>
        </a:defRPr>
      </a:lvl2pPr>
      <a:lvl3pPr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Optima" pitchFamily="2" charset="2"/>
          <a:ea typeface="가는각진제목체" pitchFamily="18" charset="-127"/>
        </a:defRPr>
      </a:lvl3pPr>
      <a:lvl4pPr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Optima" pitchFamily="2" charset="2"/>
          <a:ea typeface="가는각진제목체" pitchFamily="18" charset="-127"/>
        </a:defRPr>
      </a:lvl4pPr>
      <a:lvl5pPr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Optima" pitchFamily="2" charset="2"/>
          <a:ea typeface="가는각진제목체" pitchFamily="18" charset="-127"/>
        </a:defRPr>
      </a:lvl5pPr>
      <a:lvl6pPr marL="457200"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Optima" pitchFamily="2" charset="2"/>
          <a:ea typeface="가는각진제목체" pitchFamily="18" charset="-127"/>
        </a:defRPr>
      </a:lvl6pPr>
      <a:lvl7pPr marL="914400"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Optima" pitchFamily="2" charset="2"/>
          <a:ea typeface="가는각진제목체" pitchFamily="18" charset="-127"/>
        </a:defRPr>
      </a:lvl7pPr>
      <a:lvl8pPr marL="1371600"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Optima" pitchFamily="2" charset="2"/>
          <a:ea typeface="가는각진제목체" pitchFamily="18" charset="-127"/>
        </a:defRPr>
      </a:lvl8pPr>
      <a:lvl9pPr marL="1828800" algn="l" defTabSz="1019175" rtl="0" eaLnBrk="0" fontAlgn="base" hangingPunct="0">
        <a:spcBef>
          <a:spcPct val="0"/>
        </a:spcBef>
        <a:spcAft>
          <a:spcPct val="0"/>
        </a:spcAft>
        <a:defRPr b="1">
          <a:solidFill>
            <a:srgbClr val="000000"/>
          </a:solidFill>
          <a:latin typeface="Optima" pitchFamily="2" charset="2"/>
          <a:ea typeface="가는각진제목체" pitchFamily="18" charset="-127"/>
        </a:defRPr>
      </a:lvl9pPr>
    </p:titleStyle>
    <p:bodyStyle>
      <a:lvl1pPr marL="342900" indent="-342900" algn="l" rtl="0" eaLnBrk="0" fontAlgn="base" hangingPunct="0">
        <a:spcBef>
          <a:spcPct val="30000"/>
        </a:spcBef>
        <a:spcAft>
          <a:spcPct val="0"/>
        </a:spcAft>
        <a:defRPr sz="1400" b="1">
          <a:solidFill>
            <a:srgbClr val="000000"/>
          </a:solidFill>
          <a:latin typeface="+mn-lt"/>
          <a:ea typeface="+mn-ea"/>
          <a:cs typeface="+mn-cs"/>
        </a:defRPr>
      </a:lvl1pPr>
      <a:lvl2pPr marL="455613" indent="1588" algn="l" rtl="0" eaLnBrk="0" fontAlgn="base" hangingPunct="0">
        <a:spcBef>
          <a:spcPct val="30000"/>
        </a:spcBef>
        <a:spcAft>
          <a:spcPct val="0"/>
        </a:spcAft>
        <a:defRPr sz="1400" b="1">
          <a:solidFill>
            <a:srgbClr val="000000"/>
          </a:solidFill>
          <a:latin typeface="+mn-lt"/>
          <a:ea typeface="+mn-ea"/>
        </a:defRPr>
      </a:lvl2pPr>
      <a:lvl3pPr marL="914400" algn="l" rtl="0" eaLnBrk="0" fontAlgn="base" hangingPunct="0">
        <a:spcBef>
          <a:spcPct val="0"/>
        </a:spcBef>
        <a:spcAft>
          <a:spcPct val="20000"/>
        </a:spcAft>
        <a:buFont typeface="Arial" charset="0"/>
        <a:buChar char="-"/>
        <a:defRPr sz="2500">
          <a:solidFill>
            <a:schemeClr val="tx2"/>
          </a:solidFill>
          <a:latin typeface="Arial" charset="0"/>
          <a:ea typeface="+mn-ea"/>
        </a:defRPr>
      </a:lvl3pPr>
      <a:lvl4pPr marL="1370013" indent="1588" algn="l" rtl="0" eaLnBrk="0" fontAlgn="base" hangingPunct="0">
        <a:spcBef>
          <a:spcPct val="0"/>
        </a:spcBef>
        <a:spcAft>
          <a:spcPct val="20000"/>
        </a:spcAft>
        <a:buChar char="•"/>
        <a:defRPr sz="2500">
          <a:solidFill>
            <a:schemeClr val="tx2"/>
          </a:solidFill>
          <a:latin typeface="Arial" charset="0"/>
          <a:ea typeface="+mn-ea"/>
        </a:defRPr>
      </a:lvl4pPr>
      <a:lvl5pPr marL="1828800" algn="l" rtl="0" eaLnBrk="0" fontAlgn="base" hangingPunct="0">
        <a:spcBef>
          <a:spcPct val="0"/>
        </a:spcBef>
        <a:spcAft>
          <a:spcPct val="20000"/>
        </a:spcAft>
        <a:buFont typeface="Arial" charset="0"/>
        <a:buChar char="-"/>
        <a:defRPr sz="2500">
          <a:solidFill>
            <a:schemeClr val="tx2"/>
          </a:solidFill>
          <a:latin typeface="Arial" charset="0"/>
          <a:ea typeface="+mn-ea"/>
        </a:defRPr>
      </a:lvl5pPr>
      <a:lvl6pPr marL="2286000" algn="l" rtl="0" fontAlgn="base">
        <a:spcBef>
          <a:spcPct val="0"/>
        </a:spcBef>
        <a:spcAft>
          <a:spcPct val="20000"/>
        </a:spcAft>
        <a:buFont typeface="Arial" charset="0"/>
        <a:buChar char="-"/>
        <a:defRPr sz="2500">
          <a:solidFill>
            <a:schemeClr val="tx2"/>
          </a:solidFill>
          <a:latin typeface="Arial" charset="0"/>
          <a:ea typeface="+mn-ea"/>
        </a:defRPr>
      </a:lvl6pPr>
      <a:lvl7pPr marL="2743200" algn="l" rtl="0" fontAlgn="base">
        <a:spcBef>
          <a:spcPct val="0"/>
        </a:spcBef>
        <a:spcAft>
          <a:spcPct val="20000"/>
        </a:spcAft>
        <a:buFont typeface="Arial" charset="0"/>
        <a:buChar char="-"/>
        <a:defRPr sz="2500">
          <a:solidFill>
            <a:schemeClr val="tx2"/>
          </a:solidFill>
          <a:latin typeface="Arial" charset="0"/>
          <a:ea typeface="+mn-ea"/>
        </a:defRPr>
      </a:lvl7pPr>
      <a:lvl8pPr marL="3200400" algn="l" rtl="0" fontAlgn="base">
        <a:spcBef>
          <a:spcPct val="0"/>
        </a:spcBef>
        <a:spcAft>
          <a:spcPct val="20000"/>
        </a:spcAft>
        <a:buFont typeface="Arial" charset="0"/>
        <a:buChar char="-"/>
        <a:defRPr sz="2500">
          <a:solidFill>
            <a:schemeClr val="tx2"/>
          </a:solidFill>
          <a:latin typeface="Arial" charset="0"/>
          <a:ea typeface="+mn-ea"/>
        </a:defRPr>
      </a:lvl8pPr>
      <a:lvl9pPr marL="3657600" algn="l" rtl="0" fontAlgn="base">
        <a:spcBef>
          <a:spcPct val="0"/>
        </a:spcBef>
        <a:spcAft>
          <a:spcPct val="20000"/>
        </a:spcAft>
        <a:buFont typeface="Arial" charset="0"/>
        <a:buChar char="-"/>
        <a:defRPr sz="2500">
          <a:solidFill>
            <a:schemeClr val="tx2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777875" y="2166938"/>
            <a:ext cx="7299325" cy="492125"/>
          </a:xfrm>
          <a:noFill/>
        </p:spPr>
        <p:txBody>
          <a:bodyPr/>
          <a:lstStyle/>
          <a:p>
            <a:r>
              <a:rPr lang="en-US" altLang="ko-KR" sz="3200" dirty="0">
                <a:latin typeface="맑은 고딕" pitchFamily="50" charset="-127"/>
                <a:ea typeface="맑은 고딕" pitchFamily="50" charset="-127"/>
              </a:rPr>
              <a:t>To-Be Process </a:t>
            </a:r>
            <a:r>
              <a:rPr lang="ko-KR" altLang="en-US" sz="3200" dirty="0">
                <a:latin typeface="맑은 고딕" pitchFamily="50" charset="-127"/>
                <a:ea typeface="맑은 고딕" pitchFamily="50" charset="-127"/>
              </a:rPr>
              <a:t>기술서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776288" y="3944938"/>
            <a:ext cx="6408737" cy="1752600"/>
          </a:xfrm>
          <a:noFill/>
        </p:spPr>
        <p:txBody>
          <a:bodyPr/>
          <a:lstStyle/>
          <a:p>
            <a:pPr marL="0" indent="0">
              <a:spcBef>
                <a:spcPct val="0"/>
              </a:spcBef>
            </a:pPr>
            <a:r>
              <a:rPr lang="en-US" altLang="ko-KR" sz="1800" dirty="0">
                <a:latin typeface="맑은 고딕" pitchFamily="50" charset="-127"/>
                <a:ea typeface="맑은 고딕" pitchFamily="50" charset="-127"/>
              </a:rPr>
              <a:t>ERP Project </a:t>
            </a:r>
            <a:r>
              <a:rPr lang="ko-KR" altLang="en-US" sz="1800" dirty="0">
                <a:latin typeface="맑은 고딕" pitchFamily="50" charset="-127"/>
                <a:ea typeface="맑은 고딕" pitchFamily="50" charset="-127"/>
              </a:rPr>
              <a:t>팀</a:t>
            </a:r>
            <a:endParaRPr lang="en-US" altLang="ko-KR" sz="1800" dirty="0"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spcBef>
                <a:spcPct val="0"/>
              </a:spcBef>
            </a:pPr>
            <a:endParaRPr lang="ko-KR" altLang="en-US" sz="1800" dirty="0"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spcBef>
                <a:spcPct val="0"/>
              </a:spcBef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2022. 10</a:t>
            </a:r>
          </a:p>
        </p:txBody>
      </p:sp>
      <p:sp>
        <p:nvSpPr>
          <p:cNvPr id="1260548" name="Line 4"/>
          <p:cNvSpPr>
            <a:spLocks noChangeShapeType="1"/>
          </p:cNvSpPr>
          <p:nvPr/>
        </p:nvSpPr>
        <p:spPr bwMode="auto">
          <a:xfrm>
            <a:off x="779463" y="2889250"/>
            <a:ext cx="644207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>
            <a:outerShdw sy="50000" rotWithShape="0">
              <a:schemeClr val="bg2"/>
            </a:outerShdw>
          </a:effectLst>
        </p:spPr>
        <p:txBody>
          <a:bodyPr lIns="90000" tIns="46800" rIns="90000" bIns="46800">
            <a:spAutoFit/>
          </a:bodyPr>
          <a:lstStyle/>
          <a:p>
            <a:pPr algn="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2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5633679-09D6-45D5-9460-AD708BAD3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8496" y="5658400"/>
            <a:ext cx="1827032" cy="10109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42875"/>
            <a:ext cx="6875462" cy="274638"/>
          </a:xfrm>
        </p:spPr>
        <p:txBody>
          <a:bodyPr/>
          <a:lstStyle/>
          <a:p>
            <a:pPr defTabSz="914400"/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Document Control</a:t>
            </a:r>
          </a:p>
        </p:txBody>
      </p:sp>
      <p:graphicFrame>
        <p:nvGraphicFramePr>
          <p:cNvPr id="1235149" name="Group 2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267731"/>
              </p:ext>
            </p:extLst>
          </p:nvPr>
        </p:nvGraphicFramePr>
        <p:xfrm>
          <a:off x="457200" y="1000125"/>
          <a:ext cx="8915400" cy="1828800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 권한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이호근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File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To-Be Process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기술서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_MM_1.1.1_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공급업체 등록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_v0.3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File 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보관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Path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작성일자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2022.10.30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최종수정일자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전체 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35172" name="Group 2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680621"/>
              </p:ext>
            </p:extLst>
          </p:nvPr>
        </p:nvGraphicFramePr>
        <p:xfrm>
          <a:off x="457200" y="3057525"/>
          <a:ext cx="8915400" cy="213360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Version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개정 일자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개정 사유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결재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승인</a:t>
                      </a: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0.3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2022.10.30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 작성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이호근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0.4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2022.04.03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프로세스 변경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박세준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2834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338655"/>
              </p:ext>
            </p:extLst>
          </p:nvPr>
        </p:nvGraphicFramePr>
        <p:xfrm>
          <a:off x="417513" y="1643050"/>
          <a:ext cx="9180512" cy="4547542"/>
        </p:xfrm>
        <a:graphic>
          <a:graphicData uri="http://schemas.openxmlformats.org/drawingml/2006/table">
            <a:tbl>
              <a:tblPr/>
              <a:tblGrid>
                <a:gridCol w="98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1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4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5019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Process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설명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Arial" pitchFamily="34" charset="0"/>
                        <a:buNone/>
                        <a:defRPr/>
                      </a:pPr>
                      <a:r>
                        <a:rPr kumimoji="1" lang="en-US" altLang="ko-KR" sz="1100" b="1" u="sng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 </a:t>
                      </a:r>
                      <a:r>
                        <a:rPr kumimoji="1" lang="ko-KR" altLang="en-US" sz="1100" b="1" u="sng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정의 </a:t>
                      </a:r>
                      <a:endParaRPr kumimoji="1" lang="en-US" altLang="ko-KR" sz="1100" b="1" u="sng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Char char="l"/>
                        <a:defRPr/>
                      </a:pP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10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구매포탈시스템</a:t>
                      </a: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(SRM)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에서 신규업체</a:t>
                      </a: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잠재업체</a:t>
                      </a: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를 등록 및 평가하여 재무팀에 신규 업체를 등록 의뢰하는 프로세스</a:t>
                      </a:r>
                      <a:endParaRPr kumimoji="1" lang="en-US" altLang="ko-KR" sz="1100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None/>
                        <a:defRPr/>
                      </a:pPr>
                      <a:r>
                        <a:rPr kumimoji="1" lang="en-US" altLang="ko-KR" sz="1100" b="1" u="sng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2. </a:t>
                      </a:r>
                      <a:r>
                        <a:rPr kumimoji="1" lang="ko-KR" altLang="en-US" sz="1100" b="1" u="sng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역할 및 주관부서</a:t>
                      </a:r>
                      <a:endParaRPr kumimoji="1" lang="en-US" altLang="ko-KR" sz="1100" b="1" u="sng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3175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Char char="l"/>
                        <a:defRPr/>
                      </a:pP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10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구매팀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신규업체</a:t>
                      </a: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10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잠재업체</a:t>
                      </a: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등록 결정 및 일반</a:t>
                      </a: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&amp;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구매정보 확정</a:t>
                      </a: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10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재무팀에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회계정보 전달</a:t>
                      </a:r>
                      <a:endParaRPr kumimoji="1" lang="en-US" altLang="ko-KR" sz="1100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3175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None/>
                        <a:defRPr/>
                      </a:pP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            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기존 공급업체 일반 </a:t>
                      </a: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&amp; 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구매정보 변경 확정</a:t>
                      </a:r>
                      <a:endParaRPr kumimoji="1" lang="en-US" altLang="ko-KR" sz="1100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3175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Char char="l"/>
                        <a:defRPr/>
                      </a:pP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10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재무팀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회계정보 확인 후 등록 및 변경</a:t>
                      </a:r>
                      <a:endParaRPr kumimoji="1" lang="en-US" altLang="ko-KR" sz="1100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None/>
                        <a:defRPr/>
                      </a:pPr>
                      <a:r>
                        <a:rPr kumimoji="1" lang="en-US" altLang="ko-KR" sz="1100" b="1" u="sng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3. </a:t>
                      </a:r>
                      <a:r>
                        <a:rPr kumimoji="1" lang="ko-KR" altLang="en-US" sz="1100" b="1" u="sng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실행 주기</a:t>
                      </a:r>
                      <a:endParaRPr kumimoji="1" lang="en-US" altLang="ko-KR" sz="1100" b="1" u="sng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Char char="l"/>
                        <a:defRPr/>
                      </a:pPr>
                      <a:r>
                        <a:rPr kumimoji="1" lang="en-US" altLang="ko-KR" sz="1100" b="1" u="non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100" b="0" u="non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수시</a:t>
                      </a:r>
                      <a:endParaRPr kumimoji="1" lang="en-US" altLang="ko-KR" sz="1100" b="0" u="none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None/>
                        <a:defRPr/>
                      </a:pPr>
                      <a:r>
                        <a:rPr kumimoji="1" lang="en-US" altLang="ko-KR" sz="1100" b="1" u="sng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4. </a:t>
                      </a:r>
                      <a:r>
                        <a:rPr kumimoji="1" lang="ko-KR" altLang="en-US" sz="1100" b="1" u="sng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특이사항</a:t>
                      </a:r>
                      <a:endParaRPr kumimoji="1" lang="en-US" altLang="ko-KR" sz="1100" b="1" u="sng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Char char="l"/>
                        <a:defRPr/>
                      </a:pPr>
                      <a:r>
                        <a:rPr kumimoji="1" lang="en-US" altLang="ko-KR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SRM</a:t>
                      </a:r>
                      <a:r>
                        <a:rPr kumimoji="1" lang="ko-KR" alt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을 사용하지 않는 업체</a:t>
                      </a:r>
                      <a:r>
                        <a:rPr kumimoji="1" lang="en-US" altLang="ko-KR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(EX: </a:t>
                      </a:r>
                      <a:r>
                        <a:rPr kumimoji="1" lang="ko-KR" alt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해외업체</a:t>
                      </a:r>
                      <a:r>
                        <a:rPr kumimoji="1" lang="en-US" altLang="ko-KR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1" lang="ko-KR" alt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정보는 </a:t>
                      </a:r>
                      <a:r>
                        <a:rPr kumimoji="1" lang="ko-KR" altLang="en-US" sz="11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구매팀에서</a:t>
                      </a:r>
                      <a:r>
                        <a:rPr kumimoji="1" lang="ko-KR" alt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SRM</a:t>
                      </a:r>
                      <a:r>
                        <a:rPr kumimoji="1" lang="ko-KR" alt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에 직접 관리 필요</a:t>
                      </a:r>
                      <a:endParaRPr kumimoji="1" lang="en-US" altLang="ko-KR" sz="11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 typeface="Wingdings" pitchFamily="2" charset="2"/>
                        <a:buChar char="l"/>
                        <a:defRPr/>
                      </a:pPr>
                      <a:endParaRPr kumimoji="1" lang="en-US" altLang="ko-KR" sz="11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lvl="0" indent="0" algn="l" ea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endParaRPr kumimoji="1" lang="en-US" altLang="ko-KR" sz="1100" dirty="0">
                        <a:solidFill>
                          <a:schemeClr val="tx1">
                            <a:lumMod val="50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09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주요변화 사항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 변화사항</a:t>
                      </a:r>
                      <a:endParaRPr kumimoji="0" lang="en-US" altLang="ko-KR" sz="1100" b="0" i="0" u="sng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2550" marR="0" lvl="0" indent="-825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Char char="•"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SRM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시스템을 통한 공급업체 등록 관리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kumimoji="0" lang="en-US" altLang="ko-KR" sz="1100" b="0" i="0" u="sng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59" name="Rectangle 15"/>
          <p:cNvSpPr>
            <a:spLocks noChangeArrowheads="1"/>
          </p:cNvSpPr>
          <p:nvPr/>
        </p:nvSpPr>
        <p:spPr bwMode="auto">
          <a:xfrm>
            <a:off x="322263" y="104775"/>
            <a:ext cx="89154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1019175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To-Be Process </a:t>
            </a:r>
            <a:r>
              <a:rPr lang="ko-KR" altLang="en-US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기술서</a:t>
            </a:r>
          </a:p>
        </p:txBody>
      </p:sp>
      <p:graphicFrame>
        <p:nvGraphicFramePr>
          <p:cNvPr id="1272848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473840"/>
              </p:ext>
            </p:extLst>
          </p:nvPr>
        </p:nvGraphicFramePr>
        <p:xfrm>
          <a:off x="417513" y="714356"/>
          <a:ext cx="9180512" cy="852489"/>
        </p:xfrm>
        <a:graphic>
          <a:graphicData uri="http://schemas.openxmlformats.org/drawingml/2006/table">
            <a:tbl>
              <a:tblPr/>
              <a:tblGrid>
                <a:gridCol w="165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8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2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(L.2)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기준정보 관리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이호근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(L.3)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MM-01.01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공급업체관리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(L.4)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MM-01.01.01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공급업체 등록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ChangeArrowheads="1"/>
          </p:cNvSpPr>
          <p:nvPr/>
        </p:nvSpPr>
        <p:spPr bwMode="auto">
          <a:xfrm>
            <a:off x="311150" y="69850"/>
            <a:ext cx="89154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1019175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Process Flow Chart</a:t>
            </a:r>
          </a:p>
        </p:txBody>
      </p:sp>
      <p:sp>
        <p:nvSpPr>
          <p:cNvPr id="98" name="Rectangle 1026"/>
          <p:cNvSpPr>
            <a:spLocks noChangeArrowheads="1"/>
          </p:cNvSpPr>
          <p:nvPr/>
        </p:nvSpPr>
        <p:spPr bwMode="auto">
          <a:xfrm>
            <a:off x="409575" y="1493838"/>
            <a:ext cx="9180513" cy="4811712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r" eaLnBrk="0" latinLnBrk="0" hangingPunct="0">
              <a:defRPr/>
            </a:pPr>
            <a:endParaRPr lang="ko-KR" altLang="en-US" sz="12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98" name="Text Box 1060"/>
          <p:cNvSpPr txBox="1">
            <a:spLocks noChangeArrowheads="1"/>
          </p:cNvSpPr>
          <p:nvPr/>
        </p:nvSpPr>
        <p:spPr bwMode="auto">
          <a:xfrm>
            <a:off x="3728864" y="1562100"/>
            <a:ext cx="3038475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lang="ko-KR" altLang="en-US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구매팀</a:t>
            </a:r>
            <a:endParaRPr lang="en-US" altLang="ko-KR" sz="12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99" name="Text Box 1060"/>
          <p:cNvSpPr txBox="1">
            <a:spLocks noChangeArrowheads="1"/>
          </p:cNvSpPr>
          <p:nvPr/>
        </p:nvSpPr>
        <p:spPr bwMode="auto">
          <a:xfrm>
            <a:off x="8049344" y="1571625"/>
            <a:ext cx="1044000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lang="ko-KR" altLang="en-US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재무팀</a:t>
            </a:r>
          </a:p>
        </p:txBody>
      </p:sp>
      <p:cxnSp>
        <p:nvCxnSpPr>
          <p:cNvPr id="7200" name="직선 연결선 48"/>
          <p:cNvCxnSpPr>
            <a:cxnSpLocks noChangeShapeType="1"/>
          </p:cNvCxnSpPr>
          <p:nvPr/>
        </p:nvCxnSpPr>
        <p:spPr bwMode="auto">
          <a:xfrm rot="16200000" flipH="1">
            <a:off x="5404445" y="3933825"/>
            <a:ext cx="4856162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ot"/>
            <a:round/>
            <a:headEnd/>
            <a:tailEnd/>
          </a:ln>
        </p:spPr>
      </p:cxnSp>
      <p:sp>
        <p:nvSpPr>
          <p:cNvPr id="102" name="Line 1054"/>
          <p:cNvSpPr>
            <a:spLocks noChangeShapeType="1"/>
          </p:cNvSpPr>
          <p:nvPr/>
        </p:nvSpPr>
        <p:spPr bwMode="auto">
          <a:xfrm>
            <a:off x="409575" y="1831975"/>
            <a:ext cx="91805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r" eaLnBrk="0" latinLnBrk="0" hangingPunct="0">
              <a:defRPr/>
            </a:pPr>
            <a:endParaRPr lang="ko-KR" altLang="en-US" sz="12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202" name="직선 연결선 48"/>
          <p:cNvCxnSpPr>
            <a:cxnSpLocks noChangeShapeType="1"/>
          </p:cNvCxnSpPr>
          <p:nvPr/>
        </p:nvCxnSpPr>
        <p:spPr bwMode="auto">
          <a:xfrm rot="16200000" flipH="1">
            <a:off x="-138583" y="3927475"/>
            <a:ext cx="4856162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ot"/>
            <a:round/>
            <a:headEnd/>
            <a:tailEnd/>
          </a:ln>
        </p:spPr>
      </p:cxnSp>
      <p:sp>
        <p:nvSpPr>
          <p:cNvPr id="7203" name="Text Box 1060"/>
          <p:cNvSpPr txBox="1">
            <a:spLocks noChangeArrowheads="1"/>
          </p:cNvSpPr>
          <p:nvPr/>
        </p:nvSpPr>
        <p:spPr bwMode="auto">
          <a:xfrm>
            <a:off x="416496" y="1565275"/>
            <a:ext cx="1817688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lang="ko-KR" altLang="en-US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거래업체</a:t>
            </a:r>
          </a:p>
        </p:txBody>
      </p:sp>
      <p:sp>
        <p:nvSpPr>
          <p:cNvPr id="173" name="Oval 7"/>
          <p:cNvSpPr>
            <a:spLocks noChangeArrowheads="1"/>
          </p:cNvSpPr>
          <p:nvPr/>
        </p:nvSpPr>
        <p:spPr bwMode="auto">
          <a:xfrm>
            <a:off x="8265496" y="4149080"/>
            <a:ext cx="1152000" cy="468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round/>
            <a:headEnd type="none" w="sm" len="sm"/>
            <a:tailEnd type="none" w="sm" len="sm"/>
          </a:ln>
        </p:spPr>
        <p:txBody>
          <a:bodyPr wrap="square" lIns="36000" tIns="36000" rIns="36000" bIns="36000" anchor="ctr"/>
          <a:lstStyle/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FI-04.01.010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구매처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마스터관리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54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330046"/>
              </p:ext>
            </p:extLst>
          </p:nvPr>
        </p:nvGraphicFramePr>
        <p:xfrm>
          <a:off x="417513" y="564446"/>
          <a:ext cx="9180512" cy="852489"/>
        </p:xfrm>
        <a:graphic>
          <a:graphicData uri="http://schemas.openxmlformats.org/drawingml/2006/table">
            <a:tbl>
              <a:tblPr/>
              <a:tblGrid>
                <a:gridCol w="165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4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2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(L.2)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기준정보 관리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이호근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(L.3)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MM-01.01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공급업체관리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(L.4)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MM-01.01.01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공급업체 등록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2" name="AutoShape 6"/>
          <p:cNvSpPr>
            <a:spLocks noChangeArrowheads="1"/>
          </p:cNvSpPr>
          <p:nvPr/>
        </p:nvSpPr>
        <p:spPr bwMode="auto">
          <a:xfrm>
            <a:off x="481682" y="6011195"/>
            <a:ext cx="720000" cy="234000"/>
          </a:xfrm>
          <a:prstGeom prst="flowChartPredefinedProcess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  <p:txBody>
          <a:bodyPr wrap="none" lIns="18000" tIns="0" rIns="18000" bIns="0" anchor="ctr"/>
          <a:lstStyle/>
          <a:p>
            <a:pPr algn="ctr" defTabSz="7620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ERP</a:t>
            </a:r>
          </a:p>
        </p:txBody>
      </p:sp>
      <p:sp>
        <p:nvSpPr>
          <p:cNvPr id="63" name="Rectangle 4"/>
          <p:cNvSpPr>
            <a:spLocks noChangeArrowheads="1"/>
          </p:cNvSpPr>
          <p:nvPr/>
        </p:nvSpPr>
        <p:spPr bwMode="auto">
          <a:xfrm>
            <a:off x="1304925" y="6021288"/>
            <a:ext cx="720000" cy="234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  <p:txBody>
          <a:bodyPr lIns="18000" tIns="0" rIns="18000" bIns="0" anchor="ctr"/>
          <a:lstStyle/>
          <a:p>
            <a:pPr algn="ctr" defTabSz="7620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Legacy</a:t>
            </a:r>
          </a:p>
          <a:p>
            <a:pPr algn="ctr" defTabSz="7620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(Legacy 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명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50" name="AutoShape 6"/>
          <p:cNvSpPr>
            <a:spLocks noChangeArrowheads="1"/>
          </p:cNvSpPr>
          <p:nvPr/>
        </p:nvSpPr>
        <p:spPr bwMode="auto">
          <a:xfrm>
            <a:off x="2945337" y="6024703"/>
            <a:ext cx="776705" cy="206984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  <p:txBody>
          <a:bodyPr lIns="18000" tIns="36000" rIns="18000" bIns="0" anchor="t"/>
          <a:lstStyle/>
          <a:p>
            <a:pPr algn="ctr" defTabSz="7620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Report</a:t>
            </a:r>
          </a:p>
        </p:txBody>
      </p:sp>
      <p:sp>
        <p:nvSpPr>
          <p:cNvPr id="59" name="Rectangle 4"/>
          <p:cNvSpPr>
            <a:spLocks noChangeArrowheads="1"/>
          </p:cNvSpPr>
          <p:nvPr/>
        </p:nvSpPr>
        <p:spPr bwMode="auto">
          <a:xfrm>
            <a:off x="2144688" y="6011195"/>
            <a:ext cx="720000" cy="234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lIns="18000" tIns="0" rIns="18000" bIns="0" anchor="ctr"/>
          <a:lstStyle/>
          <a:p>
            <a:pPr algn="ctr" defTabSz="7620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수작업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cxnSp>
        <p:nvCxnSpPr>
          <p:cNvPr id="69" name="꺾인 연결선 68"/>
          <p:cNvCxnSpPr>
            <a:cxnSpLocks/>
            <a:stCxn id="5" idx="4"/>
            <a:endCxn id="15" idx="0"/>
          </p:cNvCxnSpPr>
          <p:nvPr/>
        </p:nvCxnSpPr>
        <p:spPr bwMode="auto">
          <a:xfrm rot="5400000">
            <a:off x="1094355" y="2747691"/>
            <a:ext cx="365640" cy="6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5" name="Oval 7">
            <a:extLst>
              <a:ext uri="{FF2B5EF4-FFF2-40B4-BE49-F238E27FC236}">
                <a16:creationId xmlns:a16="http://schemas.microsoft.com/office/drawing/2014/main" id="{7C80963A-E4FF-D418-422D-B0C559BE4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256" y="2096904"/>
            <a:ext cx="809904" cy="468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round/>
            <a:headEnd type="none" w="sm" len="sm"/>
            <a:tailEnd type="none" w="sm" len="sm"/>
          </a:ln>
        </p:spPr>
        <p:txBody>
          <a:bodyPr wrap="none" lIns="36000" tIns="36000" rIns="36000" bIns="36000" anchor="ctr"/>
          <a:lstStyle/>
          <a:p>
            <a:pPr algn="ctr" defTabSz="76200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시작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9E873367-BB16-A62F-ED81-B96DBB971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065" y="2930544"/>
            <a:ext cx="1368152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MM-01.01.01.01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업체 등록 요청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(SRM)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E183225B-B672-2391-A66E-D52D2695E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0589" y="2019531"/>
            <a:ext cx="1368152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MM-01.01.01.03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업체 등록 접수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(SRM)</a:t>
            </a:r>
          </a:p>
        </p:txBody>
      </p:sp>
      <p:cxnSp>
        <p:nvCxnSpPr>
          <p:cNvPr id="24" name="꺾인 연결선 66">
            <a:extLst>
              <a:ext uri="{FF2B5EF4-FFF2-40B4-BE49-F238E27FC236}">
                <a16:creationId xmlns:a16="http://schemas.microsoft.com/office/drawing/2014/main" id="{25EE3AC4-9031-F744-966F-2EEC87A29BC2}"/>
              </a:ext>
            </a:extLst>
          </p:cNvPr>
          <p:cNvCxnSpPr>
            <a:cxnSpLocks/>
            <a:stCxn id="28" idx="3"/>
            <a:endCxn id="19" idx="1"/>
          </p:cNvCxnSpPr>
          <p:nvPr/>
        </p:nvCxnSpPr>
        <p:spPr bwMode="auto">
          <a:xfrm flipV="1">
            <a:off x="1961217" y="2307531"/>
            <a:ext cx="529372" cy="1881342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28" name="Rectangle 4">
            <a:extLst>
              <a:ext uri="{FF2B5EF4-FFF2-40B4-BE49-F238E27FC236}">
                <a16:creationId xmlns:a16="http://schemas.microsoft.com/office/drawing/2014/main" id="{6B7F569F-6912-B48C-BEDE-73B6C7DE4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065" y="3900873"/>
            <a:ext cx="1368152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MM-01.01.01.02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심사 서류 제출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꺾인 연결선 66">
            <a:extLst>
              <a:ext uri="{FF2B5EF4-FFF2-40B4-BE49-F238E27FC236}">
                <a16:creationId xmlns:a16="http://schemas.microsoft.com/office/drawing/2014/main" id="{10C80C24-9DC2-1F75-D189-860AC794434F}"/>
              </a:ext>
            </a:extLst>
          </p:cNvPr>
          <p:cNvCxnSpPr>
            <a:cxnSpLocks/>
            <a:stCxn id="15" idx="2"/>
            <a:endCxn id="28" idx="0"/>
          </p:cNvCxnSpPr>
          <p:nvPr/>
        </p:nvCxnSpPr>
        <p:spPr bwMode="auto">
          <a:xfrm>
            <a:off x="1277141" y="3506544"/>
            <a:ext cx="0" cy="394329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42" name="Rectangle 4">
            <a:extLst>
              <a:ext uri="{FF2B5EF4-FFF2-40B4-BE49-F238E27FC236}">
                <a16:creationId xmlns:a16="http://schemas.microsoft.com/office/drawing/2014/main" id="{E9CAAD1F-673E-BD95-FAE7-235A2DA7E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950" y="2025645"/>
            <a:ext cx="1368152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MM-01.01.01.04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업체 평가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(SRM)</a:t>
            </a:r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07B5E98A-A523-1C1B-8E4D-224FDC2A9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4728" y="4890074"/>
            <a:ext cx="1368152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MM-01.01.01.11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공급업체 변경 정보 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학인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AutoShape 6">
            <a:extLst>
              <a:ext uri="{FF2B5EF4-FFF2-40B4-BE49-F238E27FC236}">
                <a16:creationId xmlns:a16="http://schemas.microsoft.com/office/drawing/2014/main" id="{69DB8817-0A68-8D5D-61F5-8D2FCBB69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736155"/>
            <a:ext cx="1368000" cy="576000"/>
          </a:xfrm>
          <a:prstGeom prst="flowChartPredefinedProcess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MM-01.01.01.08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공급업체 생성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자동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일반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+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구매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7168" name="Rectangle 4">
            <a:extLst>
              <a:ext uri="{FF2B5EF4-FFF2-40B4-BE49-F238E27FC236}">
                <a16:creationId xmlns:a16="http://schemas.microsoft.com/office/drawing/2014/main" id="{C8C944A4-AF2D-2FFA-0053-47C08F343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15" y="4888823"/>
            <a:ext cx="1368152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MM-01.01.01.10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업체 정보 변경 요청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(SRM)</a:t>
            </a:r>
          </a:p>
        </p:txBody>
      </p:sp>
      <p:cxnSp>
        <p:nvCxnSpPr>
          <p:cNvPr id="7169" name="꺾인 연결선 66">
            <a:extLst>
              <a:ext uri="{FF2B5EF4-FFF2-40B4-BE49-F238E27FC236}">
                <a16:creationId xmlns:a16="http://schemas.microsoft.com/office/drawing/2014/main" id="{110F08F5-5318-31AB-604C-48A6B2F7CEA5}"/>
              </a:ext>
            </a:extLst>
          </p:cNvPr>
          <p:cNvCxnSpPr>
            <a:cxnSpLocks/>
            <a:stCxn id="7168" idx="3"/>
            <a:endCxn id="44" idx="1"/>
          </p:cNvCxnSpPr>
          <p:nvPr/>
        </p:nvCxnSpPr>
        <p:spPr bwMode="auto">
          <a:xfrm>
            <a:off x="1954867" y="5176823"/>
            <a:ext cx="549861" cy="125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7174" name="AutoShape 6">
            <a:extLst>
              <a:ext uri="{FF2B5EF4-FFF2-40B4-BE49-F238E27FC236}">
                <a16:creationId xmlns:a16="http://schemas.microsoft.com/office/drawing/2014/main" id="{9463DEFB-5276-2905-B83B-BC0F9D89F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812" y="4685865"/>
            <a:ext cx="1368000" cy="576000"/>
          </a:xfrm>
          <a:prstGeom prst="flowChartPredefinedProcess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MM-01.01.01.13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공급업체 변경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자동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일반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+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구매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38" name="Rectangle 4">
            <a:extLst>
              <a:ext uri="{FF2B5EF4-FFF2-40B4-BE49-F238E27FC236}">
                <a16:creationId xmlns:a16="http://schemas.microsoft.com/office/drawing/2014/main" id="{D5959BF0-8B96-A79A-B8FB-CBFB7BFA9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928" y="2844183"/>
            <a:ext cx="1005184" cy="451006"/>
          </a:xfrm>
          <a:prstGeom prst="diamond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거래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결정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E55292-D6E1-7CE9-9FAC-31E7A491F63F}"/>
              </a:ext>
            </a:extLst>
          </p:cNvPr>
          <p:cNvSpPr txBox="1"/>
          <p:nvPr/>
        </p:nvSpPr>
        <p:spPr>
          <a:xfrm>
            <a:off x="5415192" y="2749431"/>
            <a:ext cx="292763" cy="247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Rectangle 4">
            <a:extLst>
              <a:ext uri="{FF2B5EF4-FFF2-40B4-BE49-F238E27FC236}">
                <a16:creationId xmlns:a16="http://schemas.microsoft.com/office/drawing/2014/main" id="{07B5E98A-A523-1C1B-8E4D-224FDC2A9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768" y="3670798"/>
            <a:ext cx="1368152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MM-01.01.01.05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잠재업체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관리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(SRM)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6E55292-D6E1-7CE9-9FAC-31E7A491F63F}"/>
              </a:ext>
            </a:extLst>
          </p:cNvPr>
          <p:cNvSpPr txBox="1"/>
          <p:nvPr/>
        </p:nvSpPr>
        <p:spPr>
          <a:xfrm>
            <a:off x="4523067" y="3210465"/>
            <a:ext cx="292763" cy="247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Rectangle 4">
            <a:extLst>
              <a:ext uri="{FF2B5EF4-FFF2-40B4-BE49-F238E27FC236}">
                <a16:creationId xmlns:a16="http://schemas.microsoft.com/office/drawing/2014/main" id="{DAC8A565-58D2-FAEE-683F-9C14EBD26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3160" y="3736155"/>
            <a:ext cx="1368152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MM-01.01.01.09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회계 정보 </a:t>
            </a:r>
            <a:r>
              <a:rPr lang="ko-KR" altLang="en-US" sz="10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재무팀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전달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Rectangle 4">
            <a:extLst>
              <a:ext uri="{FF2B5EF4-FFF2-40B4-BE49-F238E27FC236}">
                <a16:creationId xmlns:a16="http://schemas.microsoft.com/office/drawing/2014/main" id="{C8C944A4-AF2D-2FFA-0053-47C08F343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104" y="2005630"/>
            <a:ext cx="1368152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MM-01.01.01.06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공급업체 등록 품의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(SRM)</a:t>
            </a:r>
          </a:p>
        </p:txBody>
      </p:sp>
      <p:sp>
        <p:nvSpPr>
          <p:cNvPr id="46" name="Rectangle 4">
            <a:extLst>
              <a:ext uri="{FF2B5EF4-FFF2-40B4-BE49-F238E27FC236}">
                <a16:creationId xmlns:a16="http://schemas.microsoft.com/office/drawing/2014/main" id="{C8C944A4-AF2D-2FFA-0053-47C08F343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104" y="2830607"/>
            <a:ext cx="1368152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MM-01.01.01.07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공급업체 등록 승인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(GW)</a:t>
            </a:r>
          </a:p>
        </p:txBody>
      </p:sp>
      <p:cxnSp>
        <p:nvCxnSpPr>
          <p:cNvPr id="13" name="꺾인 연결선 12"/>
          <p:cNvCxnSpPr>
            <a:stCxn id="38" idx="2"/>
            <a:endCxn id="45" idx="0"/>
          </p:cNvCxnSpPr>
          <p:nvPr/>
        </p:nvCxnSpPr>
        <p:spPr bwMode="auto">
          <a:xfrm rot="5400000">
            <a:off x="3990378" y="2853655"/>
            <a:ext cx="375609" cy="1258676"/>
          </a:xfrm>
          <a:prstGeom prst="bentConnector3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꺾인 연결선 16"/>
          <p:cNvCxnSpPr>
            <a:stCxn id="38" idx="3"/>
            <a:endCxn id="43" idx="1"/>
          </p:cNvCxnSpPr>
          <p:nvPr/>
        </p:nvCxnSpPr>
        <p:spPr bwMode="auto">
          <a:xfrm flipV="1">
            <a:off x="5310112" y="2293630"/>
            <a:ext cx="578992" cy="776056"/>
          </a:xfrm>
          <a:prstGeom prst="bentConnector3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직선 화살표 연결선 20"/>
          <p:cNvCxnSpPr>
            <a:stCxn id="43" idx="2"/>
            <a:endCxn id="46" idx="0"/>
          </p:cNvCxnSpPr>
          <p:nvPr/>
        </p:nvCxnSpPr>
        <p:spPr bwMode="auto">
          <a:xfrm>
            <a:off x="6573180" y="2581630"/>
            <a:ext cx="0" cy="248977"/>
          </a:xfrm>
          <a:prstGeom prst="straightConnector1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꺾인 연결선 24"/>
          <p:cNvCxnSpPr>
            <a:stCxn id="46" idx="2"/>
            <a:endCxn id="47" idx="0"/>
          </p:cNvCxnSpPr>
          <p:nvPr/>
        </p:nvCxnSpPr>
        <p:spPr bwMode="auto">
          <a:xfrm rot="5400000">
            <a:off x="5940316" y="3103291"/>
            <a:ext cx="329548" cy="936180"/>
          </a:xfrm>
          <a:prstGeom prst="bentConnector3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꺾인 연결선 26"/>
          <p:cNvCxnSpPr>
            <a:stCxn id="46" idx="2"/>
            <a:endCxn id="52" idx="0"/>
          </p:cNvCxnSpPr>
          <p:nvPr/>
        </p:nvCxnSpPr>
        <p:spPr bwMode="auto">
          <a:xfrm rot="16200000" flipH="1">
            <a:off x="6660434" y="3319353"/>
            <a:ext cx="329548" cy="504056"/>
          </a:xfrm>
          <a:prstGeom prst="bentConnector3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5" name="Rectangle 4">
            <a:extLst>
              <a:ext uri="{FF2B5EF4-FFF2-40B4-BE49-F238E27FC236}">
                <a16:creationId xmlns:a16="http://schemas.microsoft.com/office/drawing/2014/main" id="{C8C944A4-AF2D-2FFA-0053-47C08F343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6189" y="4888267"/>
            <a:ext cx="1368152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MM-01.01.01.12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공급업체 변경 승인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(GW)</a:t>
            </a:r>
          </a:p>
        </p:txBody>
      </p:sp>
      <p:sp>
        <p:nvSpPr>
          <p:cNvPr id="66" name="Rectangle 4">
            <a:extLst>
              <a:ext uri="{FF2B5EF4-FFF2-40B4-BE49-F238E27FC236}">
                <a16:creationId xmlns:a16="http://schemas.microsoft.com/office/drawing/2014/main" id="{DAC8A565-58D2-FAEE-683F-9C14EBD26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6785" y="5473858"/>
            <a:ext cx="1368152" cy="57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MM-01.01.01.14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회계 정보 </a:t>
            </a:r>
            <a:r>
              <a:rPr lang="ko-KR" altLang="en-US" sz="1000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재무팀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전달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2" name="꺾인 연결선 31"/>
          <p:cNvCxnSpPr>
            <a:stCxn id="65" idx="3"/>
            <a:endCxn id="7174" idx="1"/>
          </p:cNvCxnSpPr>
          <p:nvPr/>
        </p:nvCxnSpPr>
        <p:spPr bwMode="auto">
          <a:xfrm flipV="1">
            <a:off x="5434341" y="4973865"/>
            <a:ext cx="377471" cy="202402"/>
          </a:xfrm>
          <a:prstGeom prst="bentConnector3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꺾인 연결선 33"/>
          <p:cNvCxnSpPr>
            <a:stCxn id="65" idx="3"/>
            <a:endCxn id="66" idx="1"/>
          </p:cNvCxnSpPr>
          <p:nvPr/>
        </p:nvCxnSpPr>
        <p:spPr bwMode="auto">
          <a:xfrm>
            <a:off x="5434341" y="5176267"/>
            <a:ext cx="372444" cy="585591"/>
          </a:xfrm>
          <a:prstGeom prst="bentConnector3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꺾인 연결선 35"/>
          <p:cNvCxnSpPr>
            <a:stCxn id="52" idx="3"/>
            <a:endCxn id="173" idx="2"/>
          </p:cNvCxnSpPr>
          <p:nvPr/>
        </p:nvCxnSpPr>
        <p:spPr bwMode="auto">
          <a:xfrm>
            <a:off x="7761312" y="4024155"/>
            <a:ext cx="504184" cy="358925"/>
          </a:xfrm>
          <a:prstGeom prst="bentConnector3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꺾인 연결선 39"/>
          <p:cNvCxnSpPr>
            <a:stCxn id="66" idx="3"/>
            <a:endCxn id="173" idx="2"/>
          </p:cNvCxnSpPr>
          <p:nvPr/>
        </p:nvCxnSpPr>
        <p:spPr bwMode="auto">
          <a:xfrm flipV="1">
            <a:off x="7174937" y="4383080"/>
            <a:ext cx="1090559" cy="1378778"/>
          </a:xfrm>
          <a:prstGeom prst="bentConnector3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" name="꺾인 연결선 66">
            <a:extLst>
              <a:ext uri="{FF2B5EF4-FFF2-40B4-BE49-F238E27FC236}">
                <a16:creationId xmlns:a16="http://schemas.microsoft.com/office/drawing/2014/main" id="{35C12B12-E1BD-A24F-EBBB-986971C53DEC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 bwMode="auto">
          <a:xfrm flipV="1">
            <a:off x="3683608" y="2313645"/>
            <a:ext cx="415342" cy="75997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7" name="꺾인 연결선 66">
            <a:extLst>
              <a:ext uri="{FF2B5EF4-FFF2-40B4-BE49-F238E27FC236}">
                <a16:creationId xmlns:a16="http://schemas.microsoft.com/office/drawing/2014/main" id="{1A77EF97-3E31-33F4-661A-CD3541972F37}"/>
              </a:ext>
            </a:extLst>
          </p:cNvPr>
          <p:cNvCxnSpPr>
            <a:cxnSpLocks/>
            <a:stCxn id="19" idx="2"/>
            <a:endCxn id="12" idx="0"/>
          </p:cNvCxnSpPr>
          <p:nvPr/>
        </p:nvCxnSpPr>
        <p:spPr bwMode="auto">
          <a:xfrm rot="16200000" flipH="1">
            <a:off x="3051548" y="2718647"/>
            <a:ext cx="252585" cy="635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12" name="Rectangle 4">
            <a:extLst>
              <a:ext uri="{FF2B5EF4-FFF2-40B4-BE49-F238E27FC236}">
                <a16:creationId xmlns:a16="http://schemas.microsoft.com/office/drawing/2014/main" id="{C0EB76E6-5F58-82F3-CA5E-9A610EA22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424" y="2848116"/>
            <a:ext cx="1005184" cy="451006"/>
          </a:xfrm>
          <a:prstGeom prst="diamond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반려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821704-EEBA-564C-490F-373A417E73CA}"/>
              </a:ext>
            </a:extLst>
          </p:cNvPr>
          <p:cNvSpPr txBox="1"/>
          <p:nvPr/>
        </p:nvSpPr>
        <p:spPr>
          <a:xfrm>
            <a:off x="3693964" y="2709839"/>
            <a:ext cx="292763" cy="247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2" name="꺾인 연결선 66">
            <a:extLst>
              <a:ext uri="{FF2B5EF4-FFF2-40B4-BE49-F238E27FC236}">
                <a16:creationId xmlns:a16="http://schemas.microsoft.com/office/drawing/2014/main" id="{A22635CB-4236-48A3-C824-66A5B474A3FD}"/>
              </a:ext>
            </a:extLst>
          </p:cNvPr>
          <p:cNvCxnSpPr>
            <a:cxnSpLocks/>
            <a:stCxn id="12" idx="3"/>
            <a:endCxn id="38" idx="1"/>
          </p:cNvCxnSpPr>
          <p:nvPr/>
        </p:nvCxnSpPr>
        <p:spPr bwMode="auto">
          <a:xfrm flipV="1">
            <a:off x="3683608" y="3069686"/>
            <a:ext cx="621320" cy="3933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29" name="Rectangle 4">
            <a:extLst>
              <a:ext uri="{FF2B5EF4-FFF2-40B4-BE49-F238E27FC236}">
                <a16:creationId xmlns:a16="http://schemas.microsoft.com/office/drawing/2014/main" id="{003F896C-1D1E-9158-8EF1-E97A9E359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6762" y="5499834"/>
            <a:ext cx="1005184" cy="451006"/>
          </a:xfrm>
          <a:prstGeom prst="diamond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wrap="square" lIns="18000" tIns="0" rIns="18000" bIns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반려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762000" fontAlgn="base" latinLnBrk="0">
              <a:spcBef>
                <a:spcPct val="0"/>
              </a:spcBef>
              <a:spcAft>
                <a:spcPct val="0"/>
              </a:spcAft>
            </a:pP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1" name="꺾인 연결선 29">
            <a:extLst>
              <a:ext uri="{FF2B5EF4-FFF2-40B4-BE49-F238E27FC236}">
                <a16:creationId xmlns:a16="http://schemas.microsoft.com/office/drawing/2014/main" id="{23E75ED0-B4E6-FCC5-9CC6-3B7849D0DE16}"/>
              </a:ext>
            </a:extLst>
          </p:cNvPr>
          <p:cNvCxnSpPr>
            <a:cxnSpLocks/>
            <a:stCxn id="44" idx="2"/>
            <a:endCxn id="29" idx="1"/>
          </p:cNvCxnSpPr>
          <p:nvPr/>
        </p:nvCxnSpPr>
        <p:spPr bwMode="auto">
          <a:xfrm rot="16200000" flipH="1">
            <a:off x="3193152" y="5461726"/>
            <a:ext cx="259263" cy="267958"/>
          </a:xfrm>
          <a:prstGeom prst="bentConnector2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173" name="꺾인 연결선 29">
            <a:extLst>
              <a:ext uri="{FF2B5EF4-FFF2-40B4-BE49-F238E27FC236}">
                <a16:creationId xmlns:a16="http://schemas.microsoft.com/office/drawing/2014/main" id="{3A5C3C0C-4B3A-5DE2-DE55-396D099E7DD0}"/>
              </a:ext>
            </a:extLst>
          </p:cNvPr>
          <p:cNvCxnSpPr>
            <a:cxnSpLocks/>
            <a:stCxn id="29" idx="3"/>
            <a:endCxn id="65" idx="2"/>
          </p:cNvCxnSpPr>
          <p:nvPr/>
        </p:nvCxnSpPr>
        <p:spPr bwMode="auto">
          <a:xfrm flipV="1">
            <a:off x="4461946" y="5464267"/>
            <a:ext cx="288319" cy="261070"/>
          </a:xfrm>
          <a:prstGeom prst="bentConnector2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4980" name="Group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355342"/>
              </p:ext>
            </p:extLst>
          </p:nvPr>
        </p:nvGraphicFramePr>
        <p:xfrm>
          <a:off x="417513" y="1493839"/>
          <a:ext cx="9180512" cy="4387488"/>
        </p:xfrm>
        <a:graphic>
          <a:graphicData uri="http://schemas.openxmlformats.org/drawingml/2006/table">
            <a:tbl>
              <a:tblPr/>
              <a:tblGrid>
                <a:gridCol w="1223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4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2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37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Activity ID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Activity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설명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주관부서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defTabSz="762000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MM-01.01.01.01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업체 등록 요청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(SRM)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신규업체</a:t>
                      </a: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10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잠재업체</a:t>
                      </a: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에서 </a:t>
                      </a: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SRM 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시스템에 직접 </a:t>
                      </a:r>
                      <a:r>
                        <a:rPr kumimoji="1" lang="ko-KR" altLang="en-US" sz="110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업체명</a:t>
                      </a: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주소</a:t>
                      </a: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10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사업자번호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등 업체 주요 정보를 등록하고 </a:t>
                      </a:r>
                      <a:r>
                        <a:rPr kumimoji="1" lang="ko-KR" altLang="en-US" sz="110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구매팀에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검토 요청한다</a:t>
                      </a:r>
                      <a:r>
                        <a:rPr kumimoji="1" lang="en-US" altLang="ko-KR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r>
                        <a:rPr kumimoji="1" lang="ko-KR" altLang="en-US" sz="11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kumimoji="0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거래희망업체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9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MM-01.01.01.02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심사 서류 제출</a:t>
                      </a:r>
                      <a:endParaRPr lang="en-US" altLang="ko-KR" sz="1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신규업체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잠재업체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에서 업체 심사 및 </a:t>
                      </a: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등록시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필요한 서류를 </a:t>
                      </a: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구매팀에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제출한다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거래희망업체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MM-01.01.01.03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noProof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업체 등록 접수</a:t>
                      </a:r>
                      <a:r>
                        <a:rPr lang="en-US" altLang="ko-KR" sz="1100" kern="1200" noProof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(SRM)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구매팀 담당자가 업체에서 등록한 정보를 확인하고 승인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반려 처리를 진행한다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구매팀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MM-01.01.01.04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업체 평가</a:t>
                      </a:r>
                      <a:r>
                        <a:rPr lang="en-US" altLang="ko-KR" sz="1100" kern="12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(SRM)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업체에서 제출한 자료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및 당사 업체 평가 규정 등을 고려하여 당사와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거래가 가능한 업체인지 평가한다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 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거래거절업체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잠재업체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거래업체 등으로 분류한다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구매팀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MM-01.01.01.05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762000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잠재업체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관리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(SRM)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잠재업체로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결정된 경우 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SRM 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시스템에서만 관리한다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구매팀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MM-01.01.01.06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762000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공급업체 등록 품의</a:t>
                      </a:r>
                      <a:endParaRPr lang="en-US" altLang="ko-KR" sz="1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당사 공급업체로 등록 관리하기로 결정한 경우 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SRM 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시스템에서 공급업체 등록 품의를 작성한다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품의 </a:t>
                      </a: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등록시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사업자등록증 사본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통장사본 등을 첨부하여 </a:t>
                      </a: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결재조건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등도 명기한다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최종 승인이 나면 회계팀 담당자에게 전달될 수 있도록 통보자를 지정한다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잠재거래업체 평가여부와 상관없이 품의를 진행 할 수 있다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구매팀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MM-01.01.01.07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공급업체 등록 승인</a:t>
                      </a:r>
                      <a:endParaRPr lang="en-US" altLang="ko-KR" sz="1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(SRM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or GW)</a:t>
                      </a:r>
                      <a:endParaRPr lang="en-US" altLang="ko-KR" sz="1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공급업체 등록 품의 내용을 확인하고 승인하다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  <a:endParaRPr lang="en-US" altLang="ko-KR" sz="1100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구매팀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19773"/>
                  </a:ext>
                </a:extLst>
              </a:tr>
            </a:tbl>
          </a:graphicData>
        </a:graphic>
      </p:graphicFrame>
      <p:sp>
        <p:nvSpPr>
          <p:cNvPr id="6" name="Rectangle 15"/>
          <p:cNvSpPr>
            <a:spLocks noChangeArrowheads="1"/>
          </p:cNvSpPr>
          <p:nvPr/>
        </p:nvSpPr>
        <p:spPr bwMode="auto">
          <a:xfrm>
            <a:off x="322263" y="104775"/>
            <a:ext cx="89154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1019175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Activity </a:t>
            </a:r>
            <a:r>
              <a:rPr lang="ko-KR" altLang="en-US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기술서</a:t>
            </a:r>
          </a:p>
        </p:txBody>
      </p:sp>
      <p:graphicFrame>
        <p:nvGraphicFramePr>
          <p:cNvPr id="7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520334"/>
              </p:ext>
            </p:extLst>
          </p:nvPr>
        </p:nvGraphicFramePr>
        <p:xfrm>
          <a:off x="417513" y="564446"/>
          <a:ext cx="9180512" cy="852489"/>
        </p:xfrm>
        <a:graphic>
          <a:graphicData uri="http://schemas.openxmlformats.org/drawingml/2006/table">
            <a:tbl>
              <a:tblPr/>
              <a:tblGrid>
                <a:gridCol w="165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8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4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(L.2)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기준정보 관리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이호근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(L.3)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MM-01.01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공급업체관리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(L.4)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MM-01.01.01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공급업체 등록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4980" name="Group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953448"/>
              </p:ext>
            </p:extLst>
          </p:nvPr>
        </p:nvGraphicFramePr>
        <p:xfrm>
          <a:off x="417513" y="1493839"/>
          <a:ext cx="9180512" cy="5004000"/>
        </p:xfrm>
        <a:graphic>
          <a:graphicData uri="http://schemas.openxmlformats.org/drawingml/2006/table">
            <a:tbl>
              <a:tblPr/>
              <a:tblGrid>
                <a:gridCol w="1223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4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2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37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Activity ID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Activity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설명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주관부서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MM-01.01.01.08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762000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공급업체 생성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자동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algn="l" defTabSz="762000" fontAlgn="base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일반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+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구매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거래업체로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결정된 경우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SRM 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시스템과 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ERP 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시스템에 등록 관리한다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공급업체 등록 품의가 승인되면 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SAP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에 자동으로 공급업체가 생성된다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이때 생성되는 정보는 공급업체의 </a:t>
                      </a: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일반정보와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구매정보이다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 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국내업체의 경우 사업자 등록번호를 체크하여 기 생성된 업체일 경우</a:t>
                      </a:r>
                      <a:endParaRPr kumimoji="0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   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공급업체 정보를 변경한다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구매팀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9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MM-01.01.01.09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회계 정보 </a:t>
                      </a: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재무팀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전달</a:t>
                      </a:r>
                      <a:endParaRPr lang="en-US" altLang="ko-KR" sz="1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공급업체 등록 품의가 승인되면 </a:t>
                      </a: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회계팀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담당자에게 통보된다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회계팀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담당자가 추가 서류 등을 요청할 경우 대응한다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공급업체의 회계정보는 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FI-04.01.010 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구매처 </a:t>
                      </a: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마스터관리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프로세스를 통해 </a:t>
                      </a: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재무팀이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수행한다</a:t>
                      </a: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구매팀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MM-01.01.01.10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업체 정보 변경 요청</a:t>
                      </a:r>
                      <a:r>
                        <a:rPr lang="en-US" altLang="ko-KR" sz="1100" kern="12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(SRM)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업체 정보 변경이 필요한 경우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거래업체에서 직접 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SRM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에서 정보를 수정한 후 </a:t>
                      </a: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구매팀에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검토 요청한다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필요시 관련 근처 서류도 함께 제출한다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공급업체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MM-01.01.01.11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변경정보</a:t>
                      </a:r>
                      <a:r>
                        <a:rPr lang="ko-KR" altLang="en-US" sz="1100" kern="12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확인 및 변경 품의</a:t>
                      </a:r>
                      <a:r>
                        <a:rPr lang="en-US" altLang="ko-KR" sz="1100" kern="12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(SRM)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구매팀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담당자가 업체 변경 정보를 확인한다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변경정보에 이상이 없는 경우 승인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반려를 구매담당자가 먼저 진행한다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은행정보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등 </a:t>
                      </a: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회계팀에서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정보를 변경해야 할 경우 해당 품의 </a:t>
                      </a: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통보자에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회계팀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담당자를 포함한다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구매팀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MM-01.01.01.12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공급업체 변경 승인</a:t>
                      </a:r>
                      <a:endParaRPr lang="en-US" altLang="ko-KR" sz="1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(SRM</a:t>
                      </a:r>
                      <a:r>
                        <a:rPr lang="en-US" altLang="ko-KR" sz="1100" baseline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or GW)</a:t>
                      </a:r>
                      <a:endParaRPr lang="en-US" altLang="ko-KR" sz="1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공급업체 변경 품의 내용을 확인하고 승인하다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  <a:endParaRPr lang="en-US" altLang="ko-KR" sz="1100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구매팀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MM-01.01.01.13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공급업체 변경</a:t>
                      </a:r>
                      <a:r>
                        <a:rPr lang="en-US" altLang="ko-KR" sz="1100" kern="12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자동</a:t>
                      </a:r>
                      <a:r>
                        <a:rPr lang="en-US" altLang="ko-KR" sz="1100" kern="12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일반</a:t>
                      </a:r>
                      <a:r>
                        <a:rPr lang="en-US" altLang="ko-KR" sz="1100" kern="12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+</a:t>
                      </a:r>
                      <a:r>
                        <a:rPr lang="ko-KR" altLang="en-US" sz="1100" kern="12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구매</a:t>
                      </a:r>
                      <a:r>
                        <a:rPr lang="en-US" altLang="ko-KR" sz="1100" kern="12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공급업체 변경 품의가 승인되면 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SAP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에 자동으로 공급업체가 변경된다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  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이때 변경되는 정보는 공급업체의 </a:t>
                      </a: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일반정보와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구매정보이다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 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구매팀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MM-01.01.01.14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회계 정보 </a:t>
                      </a:r>
                      <a:r>
                        <a:rPr lang="ko-KR" altLang="en-US" sz="1100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재무팀</a:t>
                      </a: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전달</a:t>
                      </a:r>
                      <a:endParaRPr lang="en-US" altLang="ko-KR" sz="11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공급업체 변경 품의가 승인되면 </a:t>
                      </a: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회계팀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당당자에게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통보된다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회계정보 변경이 필요한 경우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FI </a:t>
                      </a:r>
                      <a:r>
                        <a:rPr kumimoji="0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프로세스로 처리한다</a:t>
                      </a:r>
                      <a:r>
                        <a:rPr kumimoji="0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.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구매팀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15"/>
          <p:cNvSpPr>
            <a:spLocks noChangeArrowheads="1"/>
          </p:cNvSpPr>
          <p:nvPr/>
        </p:nvSpPr>
        <p:spPr bwMode="auto">
          <a:xfrm>
            <a:off x="322263" y="104775"/>
            <a:ext cx="89154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1019175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Activity </a:t>
            </a:r>
            <a:r>
              <a:rPr lang="ko-KR" altLang="en-US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기술서</a:t>
            </a:r>
          </a:p>
        </p:txBody>
      </p:sp>
      <p:graphicFrame>
        <p:nvGraphicFramePr>
          <p:cNvPr id="7" name="Group 16"/>
          <p:cNvGraphicFramePr>
            <a:graphicFrameLocks noGrp="1"/>
          </p:cNvGraphicFramePr>
          <p:nvPr/>
        </p:nvGraphicFramePr>
        <p:xfrm>
          <a:off x="417513" y="564446"/>
          <a:ext cx="9180512" cy="852489"/>
        </p:xfrm>
        <a:graphic>
          <a:graphicData uri="http://schemas.openxmlformats.org/drawingml/2006/table">
            <a:tbl>
              <a:tblPr/>
              <a:tblGrid>
                <a:gridCol w="165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8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4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(L.2)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기준정보 관리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이호근</a:t>
                      </a:r>
                    </a:p>
                  </a:txBody>
                  <a:tcPr marL="38100" marR="38100" marT="38100" marB="381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(L.3)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MM-01.01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공급업체관리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(L.4)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MM-01.01.01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공급업체 등록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052398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3_blank">
  <a:themeElements>
    <a:clrScheme name="blank 2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blank">
      <a:majorFont>
        <a:latin typeface="Optima"/>
        <a:ea typeface="가는각진제목체"/>
        <a:cs typeface=""/>
      </a:majorFont>
      <a:minorFont>
        <a:latin typeface="Optima"/>
        <a:ea typeface="가는각진제목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1019175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Optima" pitchFamily="2" charset="2"/>
            <a:cs typeface="Arial" charset="0"/>
          </a:defRPr>
        </a:defPPr>
      </a:lstStyle>
    </a:spDef>
    <a:lnDef>
      <a:spPr bwMode="auto">
        <a:noFill/>
        <a:ln w="12700" cap="flat" cmpd="sng" algn="ctr">
          <a:solidFill>
            <a:schemeClr val="bg1">
              <a:lumMod val="50000"/>
            </a:schemeClr>
          </a:solidFill>
          <a:prstDash val="solid"/>
          <a:round/>
          <a:headEnd type="none" w="med" len="med"/>
          <a:tailEnd type="stealth" w="med" len="lg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 algn="l">
          <a:defRPr sz="1000" dirty="0"/>
        </a:defPPr>
      </a:lstStyle>
    </a:txDef>
  </a:objectDefaults>
  <a:extraClrSchemeLst>
    <a:extraClrScheme>
      <a:clrScheme name="blank 1">
        <a:dk1>
          <a:srgbClr val="2666A6"/>
        </a:dk1>
        <a:lt1>
          <a:srgbClr val="3DA8D5"/>
        </a:lt1>
        <a:dk2>
          <a:srgbClr val="3A4972"/>
        </a:dk2>
        <a:lt2>
          <a:srgbClr val="3DA8D5"/>
        </a:lt2>
        <a:accent1>
          <a:srgbClr val="8BCBE6"/>
        </a:accent1>
        <a:accent2>
          <a:srgbClr val="B1DCEE"/>
        </a:accent2>
        <a:accent3>
          <a:srgbClr val="AEB1BC"/>
        </a:accent3>
        <a:accent4>
          <a:srgbClr val="338FB6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2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8D9C00"/>
        </a:dk1>
        <a:lt1>
          <a:srgbClr val="AFCC0D"/>
        </a:lt1>
        <a:dk2>
          <a:srgbClr val="707014"/>
        </a:dk2>
        <a:lt2>
          <a:srgbClr val="AFCC0D"/>
        </a:lt2>
        <a:accent1>
          <a:srgbClr val="CFE06E"/>
        </a:accent1>
        <a:accent2>
          <a:srgbClr val="DFEB99"/>
        </a:accent2>
        <a:accent3>
          <a:srgbClr val="BBBBAA"/>
        </a:accent3>
        <a:accent4>
          <a:srgbClr val="95AE09"/>
        </a:accent4>
        <a:accent5>
          <a:srgbClr val="E4EDBA"/>
        </a:accent5>
        <a:accent6>
          <a:srgbClr val="CAD58A"/>
        </a:accent6>
        <a:hlink>
          <a:srgbClr val="EFF5C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4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9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A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D45100"/>
        </a:dk1>
        <a:lt1>
          <a:srgbClr val="FE7200"/>
        </a:lt1>
        <a:dk2>
          <a:srgbClr val="9E540A"/>
        </a:dk2>
        <a:lt2>
          <a:srgbClr val="FE7200"/>
        </a:lt2>
        <a:accent1>
          <a:srgbClr val="FEAA66"/>
        </a:accent1>
        <a:accent2>
          <a:srgbClr val="FFC799"/>
        </a:accent2>
        <a:accent3>
          <a:srgbClr val="CCB3AA"/>
        </a:accent3>
        <a:accent4>
          <a:srgbClr val="D96000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6">
        <a:dk1>
          <a:srgbClr val="9E540A"/>
        </a:dk1>
        <a:lt1>
          <a:srgbClr val="FFFFFF"/>
        </a:lt1>
        <a:dk2>
          <a:srgbClr val="FE7200"/>
        </a:dk2>
        <a:lt2>
          <a:srgbClr val="D45100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7">
        <a:dk1>
          <a:srgbClr val="E7BB01"/>
        </a:dk1>
        <a:lt1>
          <a:srgbClr val="FFD600"/>
        </a:lt1>
        <a:dk2>
          <a:srgbClr val="D19700"/>
        </a:dk2>
        <a:lt2>
          <a:srgbClr val="FFD600"/>
        </a:lt2>
        <a:accent1>
          <a:srgbClr val="F8E866"/>
        </a:accent1>
        <a:accent2>
          <a:srgbClr val="FBEF99"/>
        </a:accent2>
        <a:accent3>
          <a:srgbClr val="E5C9AA"/>
        </a:accent3>
        <a:accent4>
          <a:srgbClr val="DAB700"/>
        </a:accent4>
        <a:accent5>
          <a:srgbClr val="FBF2B8"/>
        </a:accent5>
        <a:accent6>
          <a:srgbClr val="E3D98A"/>
        </a:accent6>
        <a:hlink>
          <a:srgbClr val="FDF7CC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D19700"/>
        </a:dk1>
        <a:lt1>
          <a:srgbClr val="FFFFFF"/>
        </a:lt1>
        <a:dk2>
          <a:srgbClr val="FFD600"/>
        </a:dk2>
        <a:lt2>
          <a:srgbClr val="E7BB01"/>
        </a:lt2>
        <a:accent1>
          <a:srgbClr val="F8E866"/>
        </a:accent1>
        <a:accent2>
          <a:srgbClr val="FBEF99"/>
        </a:accent2>
        <a:accent3>
          <a:srgbClr val="FFFFFF"/>
        </a:accent3>
        <a:accent4>
          <a:srgbClr val="B28000"/>
        </a:accent4>
        <a:accent5>
          <a:srgbClr val="FBF2B8"/>
        </a:accent5>
        <a:accent6>
          <a:srgbClr val="E3D98A"/>
        </a:accent6>
        <a:hlink>
          <a:srgbClr val="FDF7CC"/>
        </a:hlink>
        <a:folHlink>
          <a:srgbClr val="D197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9">
        <a:dk1>
          <a:srgbClr val="8C5110"/>
        </a:dk1>
        <a:lt1>
          <a:srgbClr val="C3A212"/>
        </a:lt1>
        <a:dk2>
          <a:srgbClr val="633A11"/>
        </a:dk2>
        <a:lt2>
          <a:srgbClr val="C3A212"/>
        </a:lt2>
        <a:accent1>
          <a:srgbClr val="D5BD97"/>
        </a:accent1>
        <a:accent2>
          <a:srgbClr val="E7DAC4"/>
        </a:accent2>
        <a:accent3>
          <a:srgbClr val="B7AEAA"/>
        </a:accent3>
        <a:accent4>
          <a:srgbClr val="A68A0E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633A11"/>
        </a:dk1>
        <a:lt1>
          <a:srgbClr val="FFFFFF"/>
        </a:lt1>
        <a:dk2>
          <a:srgbClr val="C3A212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11">
        <a:dk1>
          <a:srgbClr val="BF0509"/>
        </a:dk1>
        <a:lt1>
          <a:srgbClr val="FB3D32"/>
        </a:lt1>
        <a:dk2>
          <a:srgbClr val="7B0A14"/>
        </a:dk2>
        <a:lt2>
          <a:srgbClr val="FB3D32"/>
        </a:lt2>
        <a:accent1>
          <a:srgbClr val="FD8B84"/>
        </a:accent1>
        <a:accent2>
          <a:srgbClr val="FDB1AD"/>
        </a:accent2>
        <a:accent3>
          <a:srgbClr val="BFAAAA"/>
        </a:accent3>
        <a:accent4>
          <a:srgbClr val="D63329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13">
        <a:dk1>
          <a:srgbClr val="564242"/>
        </a:dk1>
        <a:lt1>
          <a:srgbClr val="AA9F98"/>
        </a:lt1>
        <a:dk2>
          <a:srgbClr val="1B1112"/>
        </a:dk2>
        <a:lt2>
          <a:srgbClr val="AA9F98"/>
        </a:lt2>
        <a:accent1>
          <a:srgbClr val="CCC5C1"/>
        </a:accent1>
        <a:accent2>
          <a:srgbClr val="DDD9D6"/>
        </a:accent2>
        <a:accent3>
          <a:srgbClr val="ABAAAA"/>
        </a:accent3>
        <a:accent4>
          <a:srgbClr val="918781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4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ank 1">
    <a:dk1>
      <a:srgbClr val="2666A6"/>
    </a:dk1>
    <a:lt1>
      <a:srgbClr val="3DA8D5"/>
    </a:lt1>
    <a:dk2>
      <a:srgbClr val="3A4972"/>
    </a:dk2>
    <a:lt2>
      <a:srgbClr val="3DA8D5"/>
    </a:lt2>
    <a:accent1>
      <a:srgbClr val="8BCBE6"/>
    </a:accent1>
    <a:accent2>
      <a:srgbClr val="B1DCEE"/>
    </a:accent2>
    <a:accent3>
      <a:srgbClr val="AEB1BC"/>
    </a:accent3>
    <a:accent4>
      <a:srgbClr val="338FB6"/>
    </a:accent4>
    <a:accent5>
      <a:srgbClr val="C4E2F0"/>
    </a:accent5>
    <a:accent6>
      <a:srgbClr val="A0C7D8"/>
    </a:accent6>
    <a:hlink>
      <a:srgbClr val="D8EEF7"/>
    </a:hlink>
    <a:folHlink>
      <a:srgbClr val="FFFF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1641</TotalTime>
  <Words>868</Words>
  <Application>Microsoft Office PowerPoint</Application>
  <PresentationFormat>A4 용지(210x297mm)</PresentationFormat>
  <Paragraphs>241</Paragraphs>
  <Slides>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Optima</vt:lpstr>
      <vt:lpstr>맑은 고딕</vt:lpstr>
      <vt:lpstr>Arial</vt:lpstr>
      <vt:lpstr>Wingdings</vt:lpstr>
      <vt:lpstr>3_blank</vt:lpstr>
      <vt:lpstr>To-Be Process 기술서</vt:lpstr>
      <vt:lpstr>Document Control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Kogh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Kogh</dc:creator>
  <cp:lastModifiedBy>박 세준</cp:lastModifiedBy>
  <cp:revision>128</cp:revision>
  <dcterms:created xsi:type="dcterms:W3CDTF">2011-04-06T00:53:09Z</dcterms:created>
  <dcterms:modified xsi:type="dcterms:W3CDTF">2023-04-03T06:00:47Z</dcterms:modified>
</cp:coreProperties>
</file>